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Taxfix Card. The one-liner: get your refund today, spend it, and it pays you back. File once, we advance the projected refund as spendable money now, and daily card spending grows next year’s refund in the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tax apps are dead weight 11 months a year. Filing is one event, the refund is delayed, and nothing pulls the user back day to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flip: file once, we advance ~5k as spendable balance today, and then everyday spending grows next year’s refund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flywheel: advance, spend daily, auto-categorize, real value (cashback + growing refund), then spend again. Occasionally the same tagging detects a life event or a deal — that’s a bonus, not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tab bar: Home, Spend, Refund, Coach. Home shows the two hero numbers; Spend is the card + merchant tray; Refund tracks the building deductions; Coach surfaces personalized tax-smart deals.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daily driver is spending, not manual logging. Purchases are auto-categorized, deductible ones show a live +refund tag, and life events are inferred from what you buy — occasional bonuses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 turns spending into tax-smart deals. Hero example: long commute surfaces a car lease showing sticker vs. effective monthly after the deduction, plus the refund uplift. Numbers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it wins: daily value year-round, an intrinsic (non-nagging) return loop, brand-fit tone that makes users feel savvy, and a naturally tweetable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all client-side stack so it demos cleanly. The advance, categorization, detection and cashback are simulated; real integrations, auth, underlying credit and persistence are out of scope for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45-second demo: Home → spend coffee/transit → diapers triggers the new-baby detection + confetti → Coach shows the BMW deal → back to Home with both numbers grown. Close on the one-liner.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401F"/>
        </a:solidFill>
      </p:bgPr>
    </p:bg>
    <p:spTree>
      <p:nvGrpSpPr>
        <p:cNvPr id="1" name=""/>
        <p:cNvGrpSpPr/>
        <p:nvPr/>
      </p:nvGrpSpPr>
      <p:grpSpPr>
        <a:xfrm>
          <a:off x="0" y="0"/>
          <a:ext cx="0" cy="0"/>
          <a:chOff x="0" y="0"/>
          <a:chExt cx="0" cy="0"/>
        </a:xfrm>
      </p:grpSpPr>
      <p:sp>
        <p:nvSpPr>
          <p:cNvPr id="2" name="Shape 0"/>
          <p:cNvSpPr/>
          <p:nvPr/>
        </p:nvSpPr>
        <p:spPr>
          <a:xfrm>
            <a:off x="-1463040" y="4206240"/>
            <a:ext cx="4023360" cy="4023360"/>
          </a:xfrm>
          <a:prstGeom prst="ellipse">
            <a:avLst/>
          </a:prstGeom>
          <a:solidFill>
            <a:srgbClr val="1C5228"/>
          </a:solidFill>
          <a:ln/>
        </p:spPr>
      </p:sp>
      <p:sp>
        <p:nvSpPr>
          <p:cNvPr id="3" name="Shape 1"/>
          <p:cNvSpPr/>
          <p:nvPr/>
        </p:nvSpPr>
        <p:spPr>
          <a:xfrm>
            <a:off x="10424160" y="-1371600"/>
            <a:ext cx="3291840" cy="3291840"/>
          </a:xfrm>
          <a:prstGeom prst="ellipse">
            <a:avLst/>
          </a:prstGeom>
          <a:solidFill>
            <a:srgbClr val="1C5228"/>
          </a:solidFill>
          <a:ln/>
        </p:spPr>
      </p:sp>
      <p:sp>
        <p:nvSpPr>
          <p:cNvPr id="4" name="Shape 2"/>
          <p:cNvSpPr/>
          <p:nvPr/>
        </p:nvSpPr>
        <p:spPr>
          <a:xfrm>
            <a:off x="822960" y="777240"/>
            <a:ext cx="457200" cy="457200"/>
          </a:xfrm>
          <a:prstGeom prst="roundRect">
            <a:avLst>
              <a:gd name="adj" fmla="val 24000"/>
            </a:avLst>
          </a:prstGeom>
          <a:solidFill>
            <a:srgbClr val="86C440"/>
          </a:solidFill>
          <a:ln/>
        </p:spPr>
      </p:sp>
      <p:pic>
        <p:nvPicPr>
          <p:cNvPr id="5" name="Image 0" descr="preencoded.png">    </p:cNvPr>
          <p:cNvPicPr>
            <a:picLocks noChangeAspect="1"/>
          </p:cNvPicPr>
          <p:nvPr/>
        </p:nvPicPr>
        <p:blipFill>
          <a:blip r:embed="rId1"/>
          <a:stretch>
            <a:fillRect/>
          </a:stretch>
        </p:blipFill>
        <p:spPr>
          <a:xfrm>
            <a:off x="932688" y="886968"/>
            <a:ext cx="237744" cy="237744"/>
          </a:xfrm>
          <a:prstGeom prst="rect">
            <a:avLst/>
          </a:prstGeom>
        </p:spPr>
      </p:pic>
      <p:sp>
        <p:nvSpPr>
          <p:cNvPr id="6" name="Text 3"/>
          <p:cNvSpPr txBox="1"/>
          <p:nvPr/>
        </p:nvSpPr>
        <p:spPr>
          <a:xfrm>
            <a:off x="1371600" y="822960"/>
            <a:ext cx="2743200" cy="384048"/>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taxfix</a:t>
            </a:r>
            <a:endParaRPr lang="en-US" sz="1800" dirty="0"/>
          </a:p>
        </p:txBody>
      </p:sp>
      <p:sp>
        <p:nvSpPr>
          <p:cNvPr id="7" name="Text 4"/>
          <p:cNvSpPr txBox="1"/>
          <p:nvPr/>
        </p:nvSpPr>
        <p:spPr>
          <a:xfrm>
            <a:off x="822960" y="2148840"/>
            <a:ext cx="7498080" cy="1097280"/>
          </a:xfrm>
          <a:prstGeom prst="rect">
            <a:avLst/>
          </a:prstGeom>
          <a:noFill/>
          <a:ln/>
        </p:spPr>
        <p:txBody>
          <a:bodyPr wrap="square" rtlCol="0" anchor="ctr"/>
          <a:lstStyle/>
          <a:p>
            <a:pPr indent="0" marL="0">
              <a:buNone/>
            </a:pPr>
            <a:r>
              <a:rPr lang="en-US" sz="6200" b="1" dirty="0">
                <a:solidFill>
                  <a:srgbClr val="FFFFFF"/>
                </a:solidFill>
                <a:latin typeface="Calibri" pitchFamily="34" charset="0"/>
                <a:ea typeface="Calibri" pitchFamily="34" charset="-122"/>
                <a:cs typeface="Calibri" pitchFamily="34" charset="-120"/>
              </a:rPr>
              <a:t>Taxfix Card</a:t>
            </a:r>
            <a:endParaRPr lang="en-US" sz="6200" dirty="0"/>
          </a:p>
        </p:txBody>
      </p:sp>
      <p:sp>
        <p:nvSpPr>
          <p:cNvPr id="8" name="Text 5"/>
          <p:cNvSpPr txBox="1"/>
          <p:nvPr/>
        </p:nvSpPr>
        <p:spPr>
          <a:xfrm>
            <a:off x="841248" y="3246120"/>
            <a:ext cx="6949440" cy="822960"/>
          </a:xfrm>
          <a:prstGeom prst="rect">
            <a:avLst/>
          </a:prstGeom>
          <a:noFill/>
          <a:ln/>
        </p:spPr>
        <p:txBody>
          <a:bodyPr wrap="square" rtlCol="0" anchor="ctr"/>
          <a:lstStyle/>
          <a:p>
            <a:pPr indent="0" marL="0">
              <a:buNone/>
            </a:pPr>
            <a:r>
              <a:rPr lang="en-US" sz="2200" b="1" dirty="0">
                <a:solidFill>
                  <a:srgbClr val="86C440"/>
                </a:solidFill>
                <a:latin typeface="Calibri" pitchFamily="34" charset="0"/>
                <a:ea typeface="Calibri" pitchFamily="34" charset="-122"/>
                <a:cs typeface="Calibri" pitchFamily="34" charset="-120"/>
              </a:rPr>
              <a:t>Get your refund today. Spend it. It pays you back.</a:t>
            </a:r>
            <a:endParaRPr lang="en-US" sz="2200" dirty="0"/>
          </a:p>
        </p:txBody>
      </p:sp>
      <p:sp>
        <p:nvSpPr>
          <p:cNvPr id="9" name="Text 6"/>
          <p:cNvSpPr txBox="1"/>
          <p:nvPr/>
        </p:nvSpPr>
        <p:spPr>
          <a:xfrm>
            <a:off x="841248" y="4114800"/>
            <a:ext cx="6583680" cy="1005840"/>
          </a:xfrm>
          <a:prstGeom prst="rect">
            <a:avLst/>
          </a:prstGeom>
          <a:noFill/>
          <a:ln/>
        </p:spPr>
        <p:txBody>
          <a:bodyPr wrap="square" rtlCol="0" anchor="ctr"/>
          <a:lstStyle/>
          <a:p>
            <a:pPr indent="0" marL="0">
              <a:lnSpc>
                <a:spcPct val="115000"/>
              </a:lnSpc>
              <a:buNone/>
            </a:pPr>
            <a:r>
              <a:rPr lang="en-US" sz="1500" dirty="0">
                <a:solidFill>
                  <a:srgbClr val="D6E4CE"/>
                </a:solidFill>
                <a:latin typeface="Calibri" pitchFamily="34" charset="0"/>
                <a:ea typeface="Calibri" pitchFamily="34" charset="-122"/>
                <a:cs typeface="Calibri" pitchFamily="34" charset="-120"/>
              </a:rPr>
              <a:t>File once. We advance your projected refund as a spendable balance today — then every purchase quietly grows next year’s refund.</a:t>
            </a:r>
            <a:endParaRPr lang="en-US" sz="1500" dirty="0"/>
          </a:p>
        </p:txBody>
      </p:sp>
      <p:sp>
        <p:nvSpPr>
          <p:cNvPr id="10" name="Text 7"/>
          <p:cNvSpPr txBox="1"/>
          <p:nvPr/>
        </p:nvSpPr>
        <p:spPr>
          <a:xfrm>
            <a:off x="841248" y="5943600"/>
            <a:ext cx="4572000" cy="274320"/>
          </a:xfrm>
          <a:prstGeom prst="rect">
            <a:avLst/>
          </a:prstGeom>
          <a:noFill/>
          <a:ln/>
        </p:spPr>
        <p:txBody>
          <a:bodyPr wrap="square" rtlCol="0" anchor="ctr"/>
          <a:lstStyle/>
          <a:p>
            <a:pPr indent="0" marL="0">
              <a:buNone/>
            </a:pPr>
            <a:r>
              <a:rPr lang="en-US" sz="1100" b="1" spc="200" kern="0" dirty="0">
                <a:solidFill>
                  <a:srgbClr val="A9C098"/>
                </a:solidFill>
                <a:latin typeface="Calibri" pitchFamily="34" charset="0"/>
                <a:ea typeface="Calibri" pitchFamily="34" charset="-122"/>
                <a:cs typeface="Calibri" pitchFamily="34" charset="-120"/>
              </a:rPr>
              <a:t>HACKATHON PROTOTYPE</a:t>
            </a:r>
            <a:endParaRPr lang="en-US" sz="1100" dirty="0"/>
          </a:p>
        </p:txBody>
      </p:sp>
      <p:sp>
        <p:nvSpPr>
          <p:cNvPr id="11" name="Shape 8"/>
          <p:cNvSpPr/>
          <p:nvPr/>
        </p:nvSpPr>
        <p:spPr>
          <a:xfrm>
            <a:off x="8366760" y="2331720"/>
            <a:ext cx="3108960" cy="1965960"/>
          </a:xfrm>
          <a:prstGeom prst="roundRect">
            <a:avLst>
              <a:gd name="adj" fmla="val 7442"/>
            </a:avLst>
          </a:prstGeom>
          <a:solidFill>
            <a:srgbClr val="86C440"/>
          </a:solidFill>
          <a:ln/>
          <a:effectLst>
            <a:outerShdw sx="100000" sy="100000" kx="0" ky="0" algn="bl" rotWithShape="0" blurRad="101600" dist="25400" dir="5400000">
              <a:srgbClr val="000000">
                <a:alpha val="18000"/>
              </a:srgbClr>
            </a:outerShdw>
          </a:effectLst>
        </p:spPr>
      </p:sp>
      <p:sp>
        <p:nvSpPr>
          <p:cNvPr id="12" name="Text 9"/>
          <p:cNvSpPr txBox="1"/>
          <p:nvPr/>
        </p:nvSpPr>
        <p:spPr>
          <a:xfrm>
            <a:off x="8595360" y="2532888"/>
            <a:ext cx="1828800" cy="365760"/>
          </a:xfrm>
          <a:prstGeom prst="rect">
            <a:avLst/>
          </a:prstGeom>
          <a:noFill/>
          <a:ln/>
        </p:spPr>
        <p:txBody>
          <a:bodyPr wrap="square" rtlCol="0" anchor="ctr"/>
          <a:lstStyle/>
          <a:p>
            <a:pPr indent="0" marL="0">
              <a:buNone/>
            </a:pPr>
            <a:r>
              <a:rPr lang="en-US" sz="1600" b="1" dirty="0">
                <a:solidFill>
                  <a:srgbClr val="14401F"/>
                </a:solidFill>
                <a:latin typeface="Calibri" pitchFamily="34" charset="0"/>
                <a:ea typeface="Calibri" pitchFamily="34" charset="-122"/>
                <a:cs typeface="Calibri" pitchFamily="34" charset="-120"/>
              </a:rPr>
              <a:t>taxfix</a:t>
            </a:r>
            <a:endParaRPr lang="en-US" sz="1600" dirty="0"/>
          </a:p>
        </p:txBody>
      </p:sp>
      <p:sp>
        <p:nvSpPr>
          <p:cNvPr id="13" name="Shape 10"/>
          <p:cNvSpPr/>
          <p:nvPr/>
        </p:nvSpPr>
        <p:spPr>
          <a:xfrm>
            <a:off x="8595360" y="3108960"/>
            <a:ext cx="502920" cy="384048"/>
          </a:xfrm>
          <a:prstGeom prst="roundRect">
            <a:avLst>
              <a:gd name="adj" fmla="val 14286"/>
            </a:avLst>
          </a:prstGeom>
          <a:solidFill>
            <a:srgbClr val="6FA531"/>
          </a:solidFill>
          <a:ln/>
        </p:spPr>
      </p:sp>
      <p:sp>
        <p:nvSpPr>
          <p:cNvPr id="14" name="Text 11"/>
          <p:cNvSpPr txBox="1"/>
          <p:nvPr/>
        </p:nvSpPr>
        <p:spPr>
          <a:xfrm>
            <a:off x="8595360" y="3538728"/>
            <a:ext cx="2194560" cy="256032"/>
          </a:xfrm>
          <a:prstGeom prst="rect">
            <a:avLst/>
          </a:prstGeom>
          <a:noFill/>
          <a:ln/>
        </p:spPr>
        <p:txBody>
          <a:bodyPr wrap="square" rtlCol="0" anchor="ctr"/>
          <a:lstStyle/>
          <a:p>
            <a:pPr indent="0" marL="0">
              <a:buNone/>
            </a:pPr>
            <a:r>
              <a:rPr lang="en-US" sz="1000" b="1" dirty="0">
                <a:solidFill>
                  <a:srgbClr val="2C4A18"/>
                </a:solidFill>
                <a:latin typeface="Calibri" pitchFamily="34" charset="0"/>
                <a:ea typeface="Calibri" pitchFamily="34" charset="-122"/>
                <a:cs typeface="Calibri" pitchFamily="34" charset="-120"/>
              </a:rPr>
              <a:t>Spendable now</a:t>
            </a:r>
            <a:endParaRPr lang="en-US" sz="1000" dirty="0"/>
          </a:p>
        </p:txBody>
      </p:sp>
      <p:sp>
        <p:nvSpPr>
          <p:cNvPr id="15" name="Text 12"/>
          <p:cNvSpPr txBox="1"/>
          <p:nvPr/>
        </p:nvSpPr>
        <p:spPr>
          <a:xfrm>
            <a:off x="8595360" y="3703320"/>
            <a:ext cx="2651760" cy="411480"/>
          </a:xfrm>
          <a:prstGeom prst="rect">
            <a:avLst/>
          </a:prstGeom>
          <a:noFill/>
          <a:ln/>
        </p:spPr>
        <p:txBody>
          <a:bodyPr wrap="square" rtlCol="0" anchor="ctr"/>
          <a:lstStyle/>
          <a:p>
            <a:pPr indent="0" marL="0">
              <a:buNone/>
            </a:pPr>
            <a:r>
              <a:rPr lang="en-US" sz="2600" b="1" dirty="0">
                <a:solidFill>
                  <a:srgbClr val="14401F"/>
                </a:solidFill>
                <a:latin typeface="Calibri" pitchFamily="34" charset="0"/>
                <a:ea typeface="Calibri" pitchFamily="34" charset="-122"/>
                <a:cs typeface="Calibri" pitchFamily="34" charset="-120"/>
              </a:rPr>
              <a:t>€ 5,000</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FE9"/>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86C440"/>
          </a:solidFill>
          <a:ln/>
        </p:spPr>
      </p:sp>
      <p:pic>
        <p:nvPicPr>
          <p:cNvPr id="3" name="Image 0" descr="preencoded.png">    </p:cNvPr>
          <p:cNvPicPr>
            <a:picLocks noChangeAspect="1"/>
          </p:cNvPicPr>
          <p:nvPr/>
        </p:nvPicPr>
        <p:blipFill>
          <a:blip r:embed="rId1"/>
          <a:stretch>
            <a:fillRect/>
          </a:stretch>
        </p:blipFill>
        <p:spPr>
          <a:xfrm>
            <a:off x="690372" y="644652"/>
            <a:ext cx="283464" cy="283464"/>
          </a:xfrm>
          <a:prstGeom prst="rect">
            <a:avLst/>
          </a:prstGeom>
        </p:spPr>
      </p:pic>
      <p:sp>
        <p:nvSpPr>
          <p:cNvPr id="4" name="Text 1"/>
          <p:cNvSpPr txBox="1"/>
          <p:nvPr/>
        </p:nvSpPr>
        <p:spPr>
          <a:xfrm>
            <a:off x="1280160" y="457200"/>
            <a:ext cx="9144000" cy="274320"/>
          </a:xfrm>
          <a:prstGeom prst="rect">
            <a:avLst/>
          </a:prstGeom>
          <a:noFill/>
          <a:ln/>
        </p:spPr>
        <p:txBody>
          <a:bodyPr wrap="square" rtlCol="0" anchor="ctr"/>
          <a:lstStyle/>
          <a:p>
            <a:pPr indent="0" marL="0">
              <a:buNone/>
            </a:pPr>
            <a:r>
              <a:rPr lang="en-US" sz="1200" b="1" spc="200" kern="0" dirty="0">
                <a:solidFill>
                  <a:srgbClr val="86C440"/>
                </a:solidFill>
                <a:latin typeface="Calibri" pitchFamily="34" charset="0"/>
                <a:ea typeface="Calibri" pitchFamily="34" charset="-122"/>
                <a:cs typeface="Calibri" pitchFamily="34" charset="-120"/>
              </a:rPr>
              <a:t>THE PROBLEM</a:t>
            </a:r>
            <a:endParaRPr lang="en-US" sz="1200" dirty="0"/>
          </a:p>
        </p:txBody>
      </p:sp>
      <p:sp>
        <p:nvSpPr>
          <p:cNvPr id="5" name="Text 2"/>
          <p:cNvSpPr txBox="1"/>
          <p:nvPr/>
        </p:nvSpPr>
        <p:spPr>
          <a:xfrm>
            <a:off x="1280160" y="694944"/>
            <a:ext cx="10241280" cy="640080"/>
          </a:xfrm>
          <a:prstGeom prst="rect">
            <a:avLst/>
          </a:prstGeom>
          <a:noFill/>
          <a:ln/>
        </p:spPr>
        <p:txBody>
          <a:bodyPr wrap="square" rtlCol="0" anchor="ctr"/>
          <a:lstStyle/>
          <a:p>
            <a:pPr indent="0" marL="0">
              <a:buNone/>
            </a:pPr>
            <a:r>
              <a:rPr lang="en-US" sz="3000" b="1" dirty="0">
                <a:solidFill>
                  <a:srgbClr val="14401F"/>
                </a:solidFill>
                <a:latin typeface="Calibri" pitchFamily="34" charset="0"/>
                <a:ea typeface="Calibri" pitchFamily="34" charset="-122"/>
                <a:cs typeface="Calibri" pitchFamily="34" charset="-120"/>
              </a:rPr>
              <a:t>Tax apps go quiet 11 months a year</a:t>
            </a:r>
            <a:endParaRPr lang="en-US" sz="3000" dirty="0"/>
          </a:p>
        </p:txBody>
      </p:sp>
      <p:sp>
        <p:nvSpPr>
          <p:cNvPr id="6" name="Text 3"/>
          <p:cNvSpPr txBox="1"/>
          <p:nvPr/>
        </p:nvSpPr>
        <p:spPr>
          <a:xfrm>
            <a:off x="822960" y="1691640"/>
            <a:ext cx="5486400" cy="1463040"/>
          </a:xfrm>
          <a:prstGeom prst="rect">
            <a:avLst/>
          </a:prstGeom>
          <a:noFill/>
          <a:ln/>
        </p:spPr>
        <p:txBody>
          <a:bodyPr wrap="square" rtlCol="0" anchor="ctr"/>
          <a:lstStyle/>
          <a:p>
            <a:pPr indent="0" marL="0">
              <a:lnSpc>
                <a:spcPct val="120000"/>
              </a:lnSpc>
              <a:buNone/>
            </a:pPr>
            <a:r>
              <a:rPr lang="en-US" sz="1600" dirty="0">
                <a:solidFill>
                  <a:srgbClr val="5C6B5A"/>
                </a:solidFill>
                <a:latin typeface="Calibri" pitchFamily="34" charset="0"/>
                <a:ea typeface="Calibri" pitchFamily="34" charset="-122"/>
                <a:cs typeface="Calibri" pitchFamily="34" charset="-120"/>
              </a:rPr>
              <a:t>Filing is a once-a-year event. The refund lands months later. Between filings there’s no reason to open the app — so there’s no daily habit, no daily value, and no loop to bring people back.</a:t>
            </a:r>
            <a:endParaRPr lang="en-US" sz="1600" dirty="0"/>
          </a:p>
        </p:txBody>
      </p:sp>
      <p:sp>
        <p:nvSpPr>
          <p:cNvPr id="7" name="Shape 4"/>
          <p:cNvSpPr/>
          <p:nvPr/>
        </p:nvSpPr>
        <p:spPr>
          <a:xfrm>
            <a:off x="822960" y="3383280"/>
            <a:ext cx="5486400" cy="841248"/>
          </a:xfrm>
          <a:prstGeom prst="roundRect">
            <a:avLst>
              <a:gd name="adj" fmla="val 8696"/>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8" name="Text 5"/>
          <p:cNvSpPr txBox="1"/>
          <p:nvPr/>
        </p:nvSpPr>
        <p:spPr>
          <a:xfrm>
            <a:off x="1005840" y="3493008"/>
            <a:ext cx="1828800" cy="621792"/>
          </a:xfrm>
          <a:prstGeom prst="rect">
            <a:avLst/>
          </a:prstGeom>
          <a:noFill/>
          <a:ln/>
        </p:spPr>
        <p:txBody>
          <a:bodyPr wrap="square" rtlCol="0" anchor="ctr"/>
          <a:lstStyle/>
          <a:p>
            <a:pPr algn="l" indent="0" marL="0">
              <a:buNone/>
            </a:pPr>
            <a:r>
              <a:rPr lang="en-US" sz="3000" b="1" dirty="0">
                <a:solidFill>
                  <a:srgbClr val="14401F"/>
                </a:solidFill>
                <a:latin typeface="Calibri" pitchFamily="34" charset="0"/>
                <a:ea typeface="Calibri" pitchFamily="34" charset="-122"/>
                <a:cs typeface="Calibri" pitchFamily="34" charset="-120"/>
              </a:rPr>
              <a:t>1×</a:t>
            </a:r>
            <a:endParaRPr lang="en-US" sz="3000" dirty="0"/>
          </a:p>
        </p:txBody>
      </p:sp>
      <p:sp>
        <p:nvSpPr>
          <p:cNvPr id="9" name="Text 6"/>
          <p:cNvSpPr txBox="1"/>
          <p:nvPr/>
        </p:nvSpPr>
        <p:spPr>
          <a:xfrm>
            <a:off x="2880360" y="3493008"/>
            <a:ext cx="3291840" cy="621792"/>
          </a:xfrm>
          <a:prstGeom prst="rect">
            <a:avLst/>
          </a:prstGeom>
          <a:noFill/>
          <a:ln/>
        </p:spPr>
        <p:txBody>
          <a:bodyPr wrap="square" rtlCol="0" anchor="ctr"/>
          <a:lstStyle/>
          <a:p>
            <a:pPr indent="0" marL="0">
              <a:lnSpc>
                <a:spcPct val="105000"/>
              </a:lnSpc>
              <a:buNone/>
            </a:pPr>
            <a:r>
              <a:rPr lang="en-US" sz="1300" b="1" dirty="0">
                <a:solidFill>
                  <a:srgbClr val="14401F"/>
                </a:solidFill>
                <a:latin typeface="Calibri" pitchFamily="34" charset="0"/>
                <a:ea typeface="Calibri" pitchFamily="34" charset="-122"/>
                <a:cs typeface="Calibri" pitchFamily="34" charset="-120"/>
              </a:rPr>
              <a:t>per year  </a:t>
            </a:r>
            <a:pPr indent="0" marL="0">
              <a:lnSpc>
                <a:spcPct val="105000"/>
              </a:lnSpc>
              <a:buNone/>
            </a:pPr>
            <a:r>
              <a:rPr lang="en-US" sz="1300" dirty="0">
                <a:solidFill>
                  <a:srgbClr val="5C6B5A"/>
                </a:solidFill>
                <a:latin typeface="Calibri" pitchFamily="34" charset="0"/>
                <a:ea typeface="Calibri" pitchFamily="34" charset="-122"/>
                <a:cs typeface="Calibri" pitchFamily="34" charset="-120"/>
              </a:rPr>
              <a:t>— you actually file your taxes</a:t>
            </a:r>
            <a:endParaRPr lang="en-US" sz="1300" dirty="0"/>
          </a:p>
        </p:txBody>
      </p:sp>
      <p:sp>
        <p:nvSpPr>
          <p:cNvPr id="10" name="Shape 7"/>
          <p:cNvSpPr/>
          <p:nvPr/>
        </p:nvSpPr>
        <p:spPr>
          <a:xfrm>
            <a:off x="822960" y="4352544"/>
            <a:ext cx="5486400" cy="841248"/>
          </a:xfrm>
          <a:prstGeom prst="roundRect">
            <a:avLst>
              <a:gd name="adj" fmla="val 8696"/>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11" name="Text 8"/>
          <p:cNvSpPr txBox="1"/>
          <p:nvPr/>
        </p:nvSpPr>
        <p:spPr>
          <a:xfrm>
            <a:off x="1005840" y="4462272"/>
            <a:ext cx="1828800" cy="621792"/>
          </a:xfrm>
          <a:prstGeom prst="rect">
            <a:avLst/>
          </a:prstGeom>
          <a:noFill/>
          <a:ln/>
        </p:spPr>
        <p:txBody>
          <a:bodyPr wrap="square" rtlCol="0" anchor="ctr"/>
          <a:lstStyle/>
          <a:p>
            <a:pPr algn="l" indent="0" marL="0">
              <a:buNone/>
            </a:pPr>
            <a:r>
              <a:rPr lang="en-US" sz="3000" b="1" dirty="0">
                <a:solidFill>
                  <a:srgbClr val="14401F"/>
                </a:solidFill>
                <a:latin typeface="Calibri" pitchFamily="34" charset="0"/>
                <a:ea typeface="Calibri" pitchFamily="34" charset="-122"/>
                <a:cs typeface="Calibri" pitchFamily="34" charset="-120"/>
              </a:rPr>
              <a:t>~months</a:t>
            </a:r>
            <a:endParaRPr lang="en-US" sz="3000" dirty="0"/>
          </a:p>
        </p:txBody>
      </p:sp>
      <p:sp>
        <p:nvSpPr>
          <p:cNvPr id="12" name="Text 9"/>
          <p:cNvSpPr txBox="1"/>
          <p:nvPr/>
        </p:nvSpPr>
        <p:spPr>
          <a:xfrm>
            <a:off x="2880360" y="4462272"/>
            <a:ext cx="3291840" cy="621792"/>
          </a:xfrm>
          <a:prstGeom prst="rect">
            <a:avLst/>
          </a:prstGeom>
          <a:noFill/>
          <a:ln/>
        </p:spPr>
        <p:txBody>
          <a:bodyPr wrap="square" rtlCol="0" anchor="ctr"/>
          <a:lstStyle/>
          <a:p>
            <a:pPr indent="0" marL="0">
              <a:lnSpc>
                <a:spcPct val="105000"/>
              </a:lnSpc>
              <a:buNone/>
            </a:pPr>
            <a:r>
              <a:rPr lang="en-US" sz="1300" b="1" dirty="0">
                <a:solidFill>
                  <a:srgbClr val="14401F"/>
                </a:solidFill>
                <a:latin typeface="Calibri" pitchFamily="34" charset="0"/>
                <a:ea typeface="Calibri" pitchFamily="34" charset="-122"/>
                <a:cs typeface="Calibri" pitchFamily="34" charset="-120"/>
              </a:rPr>
              <a:t>later  </a:t>
            </a:r>
            <a:pPr indent="0" marL="0">
              <a:lnSpc>
                <a:spcPct val="105000"/>
              </a:lnSpc>
              <a:buNone/>
            </a:pPr>
            <a:r>
              <a:rPr lang="en-US" sz="1300" dirty="0">
                <a:solidFill>
                  <a:srgbClr val="5C6B5A"/>
                </a:solidFill>
                <a:latin typeface="Calibri" pitchFamily="34" charset="0"/>
                <a:ea typeface="Calibri" pitchFamily="34" charset="-122"/>
                <a:cs typeface="Calibri" pitchFamily="34" charset="-120"/>
              </a:rPr>
              <a:t>— before the refund even arrives</a:t>
            </a:r>
            <a:endParaRPr lang="en-US" sz="1300" dirty="0"/>
          </a:p>
        </p:txBody>
      </p:sp>
      <p:sp>
        <p:nvSpPr>
          <p:cNvPr id="13" name="Shape 10"/>
          <p:cNvSpPr/>
          <p:nvPr/>
        </p:nvSpPr>
        <p:spPr>
          <a:xfrm>
            <a:off x="822960" y="5321808"/>
            <a:ext cx="5486400" cy="841248"/>
          </a:xfrm>
          <a:prstGeom prst="roundRect">
            <a:avLst>
              <a:gd name="adj" fmla="val 8696"/>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14" name="Text 11"/>
          <p:cNvSpPr txBox="1"/>
          <p:nvPr/>
        </p:nvSpPr>
        <p:spPr>
          <a:xfrm>
            <a:off x="1005840" y="5431536"/>
            <a:ext cx="1828800" cy="621792"/>
          </a:xfrm>
          <a:prstGeom prst="rect">
            <a:avLst/>
          </a:prstGeom>
          <a:noFill/>
          <a:ln/>
        </p:spPr>
        <p:txBody>
          <a:bodyPr wrap="square" rtlCol="0" anchor="ctr"/>
          <a:lstStyle/>
          <a:p>
            <a:pPr algn="l" indent="0" marL="0">
              <a:buNone/>
            </a:pPr>
            <a:r>
              <a:rPr lang="en-US" sz="3000" b="1" dirty="0">
                <a:solidFill>
                  <a:srgbClr val="14401F"/>
                </a:solidFill>
                <a:latin typeface="Calibri" pitchFamily="34" charset="0"/>
                <a:ea typeface="Calibri" pitchFamily="34" charset="-122"/>
                <a:cs typeface="Calibri" pitchFamily="34" charset="-120"/>
              </a:rPr>
              <a:t>0</a:t>
            </a:r>
            <a:endParaRPr lang="en-US" sz="3000" dirty="0"/>
          </a:p>
        </p:txBody>
      </p:sp>
      <p:sp>
        <p:nvSpPr>
          <p:cNvPr id="15" name="Text 12"/>
          <p:cNvSpPr txBox="1"/>
          <p:nvPr/>
        </p:nvSpPr>
        <p:spPr>
          <a:xfrm>
            <a:off x="2880360" y="5431536"/>
            <a:ext cx="3291840" cy="621792"/>
          </a:xfrm>
          <a:prstGeom prst="rect">
            <a:avLst/>
          </a:prstGeom>
          <a:noFill/>
          <a:ln/>
        </p:spPr>
        <p:txBody>
          <a:bodyPr wrap="square" rtlCol="0" anchor="ctr"/>
          <a:lstStyle/>
          <a:p>
            <a:pPr indent="0" marL="0">
              <a:lnSpc>
                <a:spcPct val="105000"/>
              </a:lnSpc>
              <a:buNone/>
            </a:pPr>
            <a:r>
              <a:rPr lang="en-US" sz="1300" b="1" dirty="0">
                <a:solidFill>
                  <a:srgbClr val="14401F"/>
                </a:solidFill>
                <a:latin typeface="Calibri" pitchFamily="34" charset="0"/>
                <a:ea typeface="Calibri" pitchFamily="34" charset="-122"/>
                <a:cs typeface="Calibri" pitchFamily="34" charset="-120"/>
              </a:rPr>
              <a:t>daily reasons  </a:t>
            </a:r>
            <a:pPr indent="0" marL="0">
              <a:lnSpc>
                <a:spcPct val="105000"/>
              </a:lnSpc>
              <a:buNone/>
            </a:pPr>
            <a:r>
              <a:rPr lang="en-US" sz="1300" dirty="0">
                <a:solidFill>
                  <a:srgbClr val="5C6B5A"/>
                </a:solidFill>
                <a:latin typeface="Calibri" pitchFamily="34" charset="0"/>
                <a:ea typeface="Calibri" pitchFamily="34" charset="-122"/>
                <a:cs typeface="Calibri" pitchFamily="34" charset="-120"/>
              </a:rPr>
              <a:t>— to open the app the rest of the year</a:t>
            </a:r>
            <a:endParaRPr lang="en-US" sz="1300" dirty="0"/>
          </a:p>
        </p:txBody>
      </p:sp>
      <p:sp>
        <p:nvSpPr>
          <p:cNvPr id="16" name="Shape 13"/>
          <p:cNvSpPr/>
          <p:nvPr/>
        </p:nvSpPr>
        <p:spPr>
          <a:xfrm>
            <a:off x="6766560" y="1691640"/>
            <a:ext cx="4892040" cy="4572000"/>
          </a:xfrm>
          <a:prstGeom prst="roundRect">
            <a:avLst>
              <a:gd name="adj" fmla="val 2000"/>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17" name="Text 14"/>
          <p:cNvSpPr txBox="1"/>
          <p:nvPr/>
        </p:nvSpPr>
        <p:spPr>
          <a:xfrm>
            <a:off x="7040880" y="1920240"/>
            <a:ext cx="4389120" cy="365760"/>
          </a:xfrm>
          <a:prstGeom prst="rect">
            <a:avLst/>
          </a:prstGeom>
          <a:noFill/>
          <a:ln/>
        </p:spPr>
        <p:txBody>
          <a:bodyPr wrap="square" rtlCol="0" anchor="ctr"/>
          <a:lstStyle/>
          <a:p>
            <a:pPr indent="0" marL="0">
              <a:buNone/>
            </a:pPr>
            <a:r>
              <a:rPr lang="en-US" sz="1400" b="1" dirty="0">
                <a:solidFill>
                  <a:srgbClr val="14401F"/>
                </a:solidFill>
                <a:latin typeface="Calibri" pitchFamily="34" charset="0"/>
                <a:ea typeface="Calibri" pitchFamily="34" charset="-122"/>
                <a:cs typeface="Calibri" pitchFamily="34" charset="-120"/>
              </a:rPr>
              <a:t>Engagement over a year</a:t>
            </a:r>
            <a:endParaRPr lang="en-US" sz="1400" dirty="0"/>
          </a:p>
        </p:txBody>
      </p:sp>
      <p:sp>
        <p:nvSpPr>
          <p:cNvPr id="18" name="Shape 15"/>
          <p:cNvSpPr/>
          <p:nvPr/>
        </p:nvSpPr>
        <p:spPr>
          <a:xfrm>
            <a:off x="7132320" y="5669280"/>
            <a:ext cx="4206240" cy="0"/>
          </a:xfrm>
          <a:prstGeom prst="line">
            <a:avLst/>
          </a:prstGeom>
          <a:noFill/>
          <a:ln w="12700">
            <a:solidFill>
              <a:srgbClr val="E4E0D6"/>
            </a:solidFill>
            <a:prstDash val="solid"/>
          </a:ln>
        </p:spPr>
      </p:sp>
      <p:sp>
        <p:nvSpPr>
          <p:cNvPr id="19" name="Shape 16"/>
          <p:cNvSpPr/>
          <p:nvPr/>
        </p:nvSpPr>
        <p:spPr>
          <a:xfrm>
            <a:off x="7205472" y="5522976"/>
            <a:ext cx="204216" cy="146304"/>
          </a:xfrm>
          <a:prstGeom prst="roundRect">
            <a:avLst>
              <a:gd name="adj" fmla="val 18750"/>
            </a:avLst>
          </a:prstGeom>
          <a:solidFill>
            <a:srgbClr val="CFC9BC"/>
          </a:solidFill>
          <a:ln/>
        </p:spPr>
      </p:sp>
      <p:sp>
        <p:nvSpPr>
          <p:cNvPr id="20" name="Shape 17"/>
          <p:cNvSpPr/>
          <p:nvPr/>
        </p:nvSpPr>
        <p:spPr>
          <a:xfrm>
            <a:off x="7555992" y="5522976"/>
            <a:ext cx="204216" cy="146304"/>
          </a:xfrm>
          <a:prstGeom prst="roundRect">
            <a:avLst>
              <a:gd name="adj" fmla="val 18750"/>
            </a:avLst>
          </a:prstGeom>
          <a:solidFill>
            <a:srgbClr val="CFC9BC"/>
          </a:solidFill>
          <a:ln/>
        </p:spPr>
      </p:sp>
      <p:sp>
        <p:nvSpPr>
          <p:cNvPr id="21" name="Shape 18"/>
          <p:cNvSpPr/>
          <p:nvPr/>
        </p:nvSpPr>
        <p:spPr>
          <a:xfrm>
            <a:off x="7906512" y="2743200"/>
            <a:ext cx="204216" cy="2926080"/>
          </a:xfrm>
          <a:prstGeom prst="roundRect">
            <a:avLst>
              <a:gd name="adj" fmla="val 13433"/>
            </a:avLst>
          </a:prstGeom>
          <a:solidFill>
            <a:srgbClr val="86C440"/>
          </a:solidFill>
          <a:ln/>
        </p:spPr>
      </p:sp>
      <p:sp>
        <p:nvSpPr>
          <p:cNvPr id="22" name="Shape 19"/>
          <p:cNvSpPr/>
          <p:nvPr/>
        </p:nvSpPr>
        <p:spPr>
          <a:xfrm>
            <a:off x="8257032" y="5522976"/>
            <a:ext cx="204216" cy="146304"/>
          </a:xfrm>
          <a:prstGeom prst="roundRect">
            <a:avLst>
              <a:gd name="adj" fmla="val 18750"/>
            </a:avLst>
          </a:prstGeom>
          <a:solidFill>
            <a:srgbClr val="CFC9BC"/>
          </a:solidFill>
          <a:ln/>
        </p:spPr>
      </p:sp>
      <p:sp>
        <p:nvSpPr>
          <p:cNvPr id="23" name="Shape 20"/>
          <p:cNvSpPr/>
          <p:nvPr/>
        </p:nvSpPr>
        <p:spPr>
          <a:xfrm>
            <a:off x="8607552" y="5522976"/>
            <a:ext cx="204216" cy="146304"/>
          </a:xfrm>
          <a:prstGeom prst="roundRect">
            <a:avLst>
              <a:gd name="adj" fmla="val 18750"/>
            </a:avLst>
          </a:prstGeom>
          <a:solidFill>
            <a:srgbClr val="CFC9BC"/>
          </a:solidFill>
          <a:ln/>
        </p:spPr>
      </p:sp>
      <p:sp>
        <p:nvSpPr>
          <p:cNvPr id="24" name="Shape 21"/>
          <p:cNvSpPr/>
          <p:nvPr/>
        </p:nvSpPr>
        <p:spPr>
          <a:xfrm>
            <a:off x="8958072" y="5522976"/>
            <a:ext cx="204216" cy="146304"/>
          </a:xfrm>
          <a:prstGeom prst="roundRect">
            <a:avLst>
              <a:gd name="adj" fmla="val 18750"/>
            </a:avLst>
          </a:prstGeom>
          <a:solidFill>
            <a:srgbClr val="CFC9BC"/>
          </a:solidFill>
          <a:ln/>
        </p:spPr>
      </p:sp>
      <p:sp>
        <p:nvSpPr>
          <p:cNvPr id="25" name="Shape 22"/>
          <p:cNvSpPr/>
          <p:nvPr/>
        </p:nvSpPr>
        <p:spPr>
          <a:xfrm>
            <a:off x="9308592" y="5522976"/>
            <a:ext cx="204216" cy="146304"/>
          </a:xfrm>
          <a:prstGeom prst="roundRect">
            <a:avLst>
              <a:gd name="adj" fmla="val 18750"/>
            </a:avLst>
          </a:prstGeom>
          <a:solidFill>
            <a:srgbClr val="CFC9BC"/>
          </a:solidFill>
          <a:ln/>
        </p:spPr>
      </p:sp>
      <p:sp>
        <p:nvSpPr>
          <p:cNvPr id="26" name="Shape 23"/>
          <p:cNvSpPr/>
          <p:nvPr/>
        </p:nvSpPr>
        <p:spPr>
          <a:xfrm>
            <a:off x="9659112" y="5522976"/>
            <a:ext cx="204216" cy="146304"/>
          </a:xfrm>
          <a:prstGeom prst="roundRect">
            <a:avLst>
              <a:gd name="adj" fmla="val 18750"/>
            </a:avLst>
          </a:prstGeom>
          <a:solidFill>
            <a:srgbClr val="CFC9BC"/>
          </a:solidFill>
          <a:ln/>
        </p:spPr>
      </p:sp>
      <p:sp>
        <p:nvSpPr>
          <p:cNvPr id="27" name="Shape 24"/>
          <p:cNvSpPr/>
          <p:nvPr/>
        </p:nvSpPr>
        <p:spPr>
          <a:xfrm>
            <a:off x="10009632" y="5522976"/>
            <a:ext cx="204216" cy="146304"/>
          </a:xfrm>
          <a:prstGeom prst="roundRect">
            <a:avLst>
              <a:gd name="adj" fmla="val 18750"/>
            </a:avLst>
          </a:prstGeom>
          <a:solidFill>
            <a:srgbClr val="CFC9BC"/>
          </a:solidFill>
          <a:ln/>
        </p:spPr>
      </p:sp>
      <p:sp>
        <p:nvSpPr>
          <p:cNvPr id="28" name="Shape 25"/>
          <p:cNvSpPr/>
          <p:nvPr/>
        </p:nvSpPr>
        <p:spPr>
          <a:xfrm>
            <a:off x="10360152" y="5522976"/>
            <a:ext cx="204216" cy="146304"/>
          </a:xfrm>
          <a:prstGeom prst="roundRect">
            <a:avLst>
              <a:gd name="adj" fmla="val 18750"/>
            </a:avLst>
          </a:prstGeom>
          <a:solidFill>
            <a:srgbClr val="CFC9BC"/>
          </a:solidFill>
          <a:ln/>
        </p:spPr>
      </p:sp>
      <p:sp>
        <p:nvSpPr>
          <p:cNvPr id="29" name="Shape 26"/>
          <p:cNvSpPr/>
          <p:nvPr/>
        </p:nvSpPr>
        <p:spPr>
          <a:xfrm>
            <a:off x="10710672" y="5522976"/>
            <a:ext cx="204216" cy="146304"/>
          </a:xfrm>
          <a:prstGeom prst="roundRect">
            <a:avLst>
              <a:gd name="adj" fmla="val 18750"/>
            </a:avLst>
          </a:prstGeom>
          <a:solidFill>
            <a:srgbClr val="CFC9BC"/>
          </a:solidFill>
          <a:ln/>
        </p:spPr>
      </p:sp>
      <p:sp>
        <p:nvSpPr>
          <p:cNvPr id="30" name="Shape 27"/>
          <p:cNvSpPr/>
          <p:nvPr/>
        </p:nvSpPr>
        <p:spPr>
          <a:xfrm>
            <a:off x="11061192" y="5522976"/>
            <a:ext cx="204216" cy="146304"/>
          </a:xfrm>
          <a:prstGeom prst="roundRect">
            <a:avLst>
              <a:gd name="adj" fmla="val 18750"/>
            </a:avLst>
          </a:prstGeom>
          <a:solidFill>
            <a:srgbClr val="CFC9BC"/>
          </a:solidFill>
          <a:ln/>
        </p:spPr>
      </p:sp>
      <p:sp>
        <p:nvSpPr>
          <p:cNvPr id="31" name="Text 28"/>
          <p:cNvSpPr txBox="1"/>
          <p:nvPr/>
        </p:nvSpPr>
        <p:spPr>
          <a:xfrm>
            <a:off x="7559040" y="2331720"/>
            <a:ext cx="1097280" cy="548640"/>
          </a:xfrm>
          <a:prstGeom prst="rect">
            <a:avLst/>
          </a:prstGeom>
          <a:noFill/>
          <a:ln/>
        </p:spPr>
        <p:txBody>
          <a:bodyPr wrap="square" rtlCol="0" anchor="ctr"/>
          <a:lstStyle/>
          <a:p>
            <a:pPr algn="ctr" indent="0" marL="0">
              <a:buNone/>
            </a:pPr>
            <a:r>
              <a:rPr lang="en-US" sz="1000" b="1" dirty="0">
                <a:solidFill>
                  <a:srgbClr val="14401F"/>
                </a:solidFill>
                <a:latin typeface="Calibri" pitchFamily="34" charset="0"/>
                <a:ea typeface="Calibri" pitchFamily="34" charset="-122"/>
                <a:cs typeface="Calibri" pitchFamily="34" charset="-120"/>
              </a:rPr>
              <a:t>Filing</a:t>
            </a:r>
            <a:endParaRPr lang="en-US" sz="1000" dirty="0"/>
          </a:p>
          <a:p>
            <a:pPr algn="ctr" indent="0" marL="0">
              <a:buNone/>
            </a:pPr>
            <a:r>
              <a:rPr lang="en-US" sz="1000" b="1" dirty="0">
                <a:solidFill>
                  <a:srgbClr val="14401F"/>
                </a:solidFill>
                <a:latin typeface="Calibri" pitchFamily="34" charset="0"/>
                <a:ea typeface="Calibri" pitchFamily="34" charset="-122"/>
                <a:cs typeface="Calibri" pitchFamily="34" charset="-120"/>
              </a:rPr>
              <a:t>season</a:t>
            </a:r>
            <a:endParaRPr lang="en-US" sz="1000" dirty="0"/>
          </a:p>
        </p:txBody>
      </p:sp>
      <p:sp>
        <p:nvSpPr>
          <p:cNvPr id="32" name="Text 29"/>
          <p:cNvSpPr txBox="1"/>
          <p:nvPr/>
        </p:nvSpPr>
        <p:spPr>
          <a:xfrm>
            <a:off x="7132320" y="5806440"/>
            <a:ext cx="4206240" cy="274320"/>
          </a:xfrm>
          <a:prstGeom prst="rect">
            <a:avLst/>
          </a:prstGeom>
          <a:noFill/>
          <a:ln/>
        </p:spPr>
        <p:txBody>
          <a:bodyPr wrap="square" rtlCol="0" anchor="ctr"/>
          <a:lstStyle/>
          <a:p>
            <a:pPr indent="0" marL="0">
              <a:buNone/>
            </a:pPr>
            <a:r>
              <a:rPr lang="en-US" sz="1100" i="1" dirty="0">
                <a:solidFill>
                  <a:srgbClr val="5C6B5A"/>
                </a:solidFill>
                <a:latin typeface="Calibri" pitchFamily="34" charset="0"/>
                <a:ea typeface="Calibri" pitchFamily="34" charset="-122"/>
                <a:cs typeface="Calibri" pitchFamily="34" charset="-120"/>
              </a:rPr>
              <a:t>Dormant the rest of the year</a:t>
            </a:r>
            <a:endParaRPr lang="en-US" sz="1100" dirty="0"/>
          </a:p>
        </p:txBody>
      </p:sp>
      <p:sp>
        <p:nvSpPr>
          <p:cNvPr id="33" name="Text 30"/>
          <p:cNvSpPr txBox="1"/>
          <p:nvPr/>
        </p:nvSpPr>
        <p:spPr>
          <a:xfrm>
            <a:off x="11430000" y="6355080"/>
            <a:ext cx="548640" cy="274320"/>
          </a:xfrm>
          <a:prstGeom prst="rect">
            <a:avLst/>
          </a:prstGeom>
          <a:noFill/>
          <a:ln/>
        </p:spPr>
        <p:txBody>
          <a:bodyPr wrap="square" rtlCol="0" anchor="ctr"/>
          <a:lstStyle/>
          <a:p>
            <a:pPr algn="r" indent="0" marL="0">
              <a:buNone/>
            </a:pPr>
            <a:r>
              <a:rPr lang="en-US" sz="1000" dirty="0">
                <a:solidFill>
                  <a:srgbClr val="5C6B5A"/>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FE9"/>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86C440"/>
          </a:solidFill>
          <a:ln/>
        </p:spPr>
      </p:sp>
      <p:pic>
        <p:nvPicPr>
          <p:cNvPr id="3" name="Image 0" descr="preencoded.png">    </p:cNvPr>
          <p:cNvPicPr>
            <a:picLocks noChangeAspect="1"/>
          </p:cNvPicPr>
          <p:nvPr/>
        </p:nvPicPr>
        <p:blipFill>
          <a:blip r:embed="rId1"/>
          <a:stretch>
            <a:fillRect/>
          </a:stretch>
        </p:blipFill>
        <p:spPr>
          <a:xfrm>
            <a:off x="690372" y="644652"/>
            <a:ext cx="283464" cy="283464"/>
          </a:xfrm>
          <a:prstGeom prst="rect">
            <a:avLst/>
          </a:prstGeom>
        </p:spPr>
      </p:pic>
      <p:sp>
        <p:nvSpPr>
          <p:cNvPr id="4" name="Text 1"/>
          <p:cNvSpPr txBox="1"/>
          <p:nvPr/>
        </p:nvSpPr>
        <p:spPr>
          <a:xfrm>
            <a:off x="1280160" y="457200"/>
            <a:ext cx="9144000" cy="274320"/>
          </a:xfrm>
          <a:prstGeom prst="rect">
            <a:avLst/>
          </a:prstGeom>
          <a:noFill/>
          <a:ln/>
        </p:spPr>
        <p:txBody>
          <a:bodyPr wrap="square" rtlCol="0" anchor="ctr"/>
          <a:lstStyle/>
          <a:p>
            <a:pPr indent="0" marL="0">
              <a:buNone/>
            </a:pPr>
            <a:r>
              <a:rPr lang="en-US" sz="1200" b="1" spc="200" kern="0" dirty="0">
                <a:solidFill>
                  <a:srgbClr val="86C440"/>
                </a:solidFill>
                <a:latin typeface="Calibri" pitchFamily="34" charset="0"/>
                <a:ea typeface="Calibri" pitchFamily="34" charset="-122"/>
                <a:cs typeface="Calibri" pitchFamily="34" charset="-120"/>
              </a:rPr>
              <a:t>THE IDEA</a:t>
            </a:r>
            <a:endParaRPr lang="en-US" sz="1200" dirty="0"/>
          </a:p>
        </p:txBody>
      </p:sp>
      <p:sp>
        <p:nvSpPr>
          <p:cNvPr id="5" name="Text 2"/>
          <p:cNvSpPr txBox="1"/>
          <p:nvPr/>
        </p:nvSpPr>
        <p:spPr>
          <a:xfrm>
            <a:off x="1280160" y="694944"/>
            <a:ext cx="10241280" cy="640080"/>
          </a:xfrm>
          <a:prstGeom prst="rect">
            <a:avLst/>
          </a:prstGeom>
          <a:noFill/>
          <a:ln/>
        </p:spPr>
        <p:txBody>
          <a:bodyPr wrap="square" rtlCol="0" anchor="ctr"/>
          <a:lstStyle/>
          <a:p>
            <a:pPr indent="0" marL="0">
              <a:buNone/>
            </a:pPr>
            <a:r>
              <a:rPr lang="en-US" sz="3000" b="1" dirty="0">
                <a:solidFill>
                  <a:srgbClr val="14401F"/>
                </a:solidFill>
                <a:latin typeface="Calibri" pitchFamily="34" charset="0"/>
                <a:ea typeface="Calibri" pitchFamily="34" charset="-122"/>
                <a:cs typeface="Calibri" pitchFamily="34" charset="-120"/>
              </a:rPr>
              <a:t>File once. Spend your refund today.</a:t>
            </a:r>
            <a:endParaRPr lang="en-US" sz="3000" dirty="0"/>
          </a:p>
        </p:txBody>
      </p:sp>
      <p:sp>
        <p:nvSpPr>
          <p:cNvPr id="6" name="Text 3"/>
          <p:cNvSpPr txBox="1"/>
          <p:nvPr/>
        </p:nvSpPr>
        <p:spPr>
          <a:xfrm>
            <a:off x="822960" y="1645920"/>
            <a:ext cx="10515600" cy="822960"/>
          </a:xfrm>
          <a:prstGeom prst="rect">
            <a:avLst/>
          </a:prstGeom>
          <a:noFill/>
          <a:ln/>
        </p:spPr>
        <p:txBody>
          <a:bodyPr wrap="square" rtlCol="0" anchor="ctr"/>
          <a:lstStyle/>
          <a:p>
            <a:pPr indent="0" marL="0">
              <a:lnSpc>
                <a:spcPct val="120000"/>
              </a:lnSpc>
              <a:buNone/>
            </a:pPr>
            <a:r>
              <a:rPr lang="en-US" sz="1600" dirty="0">
                <a:solidFill>
                  <a:srgbClr val="5C6B5A"/>
                </a:solidFill>
                <a:latin typeface="Calibri" pitchFamily="34" charset="0"/>
                <a:ea typeface="Calibri" pitchFamily="34" charset="-122"/>
                <a:cs typeface="Calibri" pitchFamily="34" charset="-120"/>
              </a:rPr>
              <a:t>We flip the model: instead of waiting for a refund, you get it up front as spendable money — and your everyday card becomes the engine that grows the next one.</a:t>
            </a:r>
            <a:endParaRPr lang="en-US" sz="1600" dirty="0"/>
          </a:p>
        </p:txBody>
      </p:sp>
      <p:sp>
        <p:nvSpPr>
          <p:cNvPr id="7" name="Shape 4"/>
          <p:cNvSpPr/>
          <p:nvPr/>
        </p:nvSpPr>
        <p:spPr>
          <a:xfrm>
            <a:off x="822960" y="2788920"/>
            <a:ext cx="2606040" cy="2880360"/>
          </a:xfrm>
          <a:prstGeom prst="roundRect">
            <a:avLst>
              <a:gd name="adj" fmla="val 3509"/>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8" name="Shape 5"/>
          <p:cNvSpPr/>
          <p:nvPr/>
        </p:nvSpPr>
        <p:spPr>
          <a:xfrm>
            <a:off x="1097280" y="3108960"/>
            <a:ext cx="777240" cy="777240"/>
          </a:xfrm>
          <a:prstGeom prst="ellipse">
            <a:avLst/>
          </a:prstGeom>
          <a:solidFill>
            <a:srgbClr val="ECF3E1"/>
          </a:solidFill>
          <a:ln/>
        </p:spPr>
      </p:sp>
      <p:pic>
        <p:nvPicPr>
          <p:cNvPr id="9" name="Image 1" descr="preencoded.png">    </p:cNvPr>
          <p:cNvPicPr>
            <a:picLocks noChangeAspect="1"/>
          </p:cNvPicPr>
          <p:nvPr/>
        </p:nvPicPr>
        <p:blipFill>
          <a:blip r:embed="rId2"/>
          <a:stretch>
            <a:fillRect/>
          </a:stretch>
        </p:blipFill>
        <p:spPr>
          <a:xfrm>
            <a:off x="1312164" y="3323844"/>
            <a:ext cx="347472" cy="347472"/>
          </a:xfrm>
          <a:prstGeom prst="rect">
            <a:avLst/>
          </a:prstGeom>
        </p:spPr>
      </p:pic>
      <p:sp>
        <p:nvSpPr>
          <p:cNvPr id="10" name="Text 6"/>
          <p:cNvSpPr txBox="1"/>
          <p:nvPr/>
        </p:nvSpPr>
        <p:spPr>
          <a:xfrm>
            <a:off x="1097280" y="4023360"/>
            <a:ext cx="2057400" cy="256032"/>
          </a:xfrm>
          <a:prstGeom prst="rect">
            <a:avLst/>
          </a:prstGeom>
          <a:noFill/>
          <a:ln/>
        </p:spPr>
        <p:txBody>
          <a:bodyPr wrap="square" rtlCol="0" anchor="ctr"/>
          <a:lstStyle/>
          <a:p>
            <a:pPr indent="0" marL="0">
              <a:buNone/>
            </a:pPr>
            <a:r>
              <a:rPr lang="en-US" sz="1000" b="1" spc="150" kern="0" dirty="0">
                <a:solidFill>
                  <a:srgbClr val="86C440"/>
                </a:solidFill>
                <a:latin typeface="Calibri" pitchFamily="34" charset="0"/>
                <a:ea typeface="Calibri" pitchFamily="34" charset="-122"/>
                <a:cs typeface="Calibri" pitchFamily="34" charset="-120"/>
              </a:rPr>
              <a:t>STEP 1</a:t>
            </a:r>
            <a:endParaRPr lang="en-US" sz="1000" dirty="0"/>
          </a:p>
        </p:txBody>
      </p:sp>
      <p:sp>
        <p:nvSpPr>
          <p:cNvPr id="11" name="Text 7"/>
          <p:cNvSpPr txBox="1"/>
          <p:nvPr/>
        </p:nvSpPr>
        <p:spPr>
          <a:xfrm>
            <a:off x="1097280" y="4251960"/>
            <a:ext cx="2057400" cy="457200"/>
          </a:xfrm>
          <a:prstGeom prst="rect">
            <a:avLst/>
          </a:prstGeom>
          <a:noFill/>
          <a:ln/>
        </p:spPr>
        <p:txBody>
          <a:bodyPr wrap="square" rtlCol="0" anchor="ctr"/>
          <a:lstStyle/>
          <a:p>
            <a:pPr indent="0" marL="0">
              <a:buNone/>
            </a:pPr>
            <a:r>
              <a:rPr lang="en-US" sz="1800" b="1" dirty="0">
                <a:solidFill>
                  <a:srgbClr val="14401F"/>
                </a:solidFill>
                <a:latin typeface="Calibri" pitchFamily="34" charset="0"/>
                <a:ea typeface="Calibri" pitchFamily="34" charset="-122"/>
                <a:cs typeface="Calibri" pitchFamily="34" charset="-120"/>
              </a:rPr>
              <a:t>File once</a:t>
            </a:r>
            <a:endParaRPr lang="en-US" sz="1800" dirty="0"/>
          </a:p>
        </p:txBody>
      </p:sp>
      <p:sp>
        <p:nvSpPr>
          <p:cNvPr id="12" name="Text 8"/>
          <p:cNvSpPr txBox="1"/>
          <p:nvPr/>
        </p:nvSpPr>
        <p:spPr>
          <a:xfrm>
            <a:off x="1097280" y="4727448"/>
            <a:ext cx="2103120" cy="822960"/>
          </a:xfrm>
          <a:prstGeom prst="rect">
            <a:avLst/>
          </a:prstGeom>
          <a:noFill/>
          <a:ln/>
        </p:spPr>
        <p:txBody>
          <a:bodyPr wrap="square" rtlCol="0" anchor="ctr"/>
          <a:lstStyle/>
          <a:p>
            <a:pPr indent="0" marL="0">
              <a:lnSpc>
                <a:spcPct val="112000"/>
              </a:lnSpc>
              <a:buNone/>
            </a:pPr>
            <a:r>
              <a:rPr lang="en-US" sz="1250" dirty="0">
                <a:solidFill>
                  <a:srgbClr val="5C6B5A"/>
                </a:solidFill>
                <a:latin typeface="Calibri" pitchFamily="34" charset="0"/>
                <a:ea typeface="Calibri" pitchFamily="34" charset="-122"/>
                <a:cs typeface="Calibri" pitchFamily="34" charset="-120"/>
              </a:rPr>
              <a:t>One filing kicks the whole thing off — no repeat data entry.</a:t>
            </a:r>
            <a:endParaRPr lang="en-US" sz="1250" dirty="0"/>
          </a:p>
        </p:txBody>
      </p:sp>
      <p:sp>
        <p:nvSpPr>
          <p:cNvPr id="13" name="Shape 9"/>
          <p:cNvSpPr/>
          <p:nvPr/>
        </p:nvSpPr>
        <p:spPr>
          <a:xfrm>
            <a:off x="3393948" y="4110228"/>
            <a:ext cx="292608" cy="237744"/>
          </a:xfrm>
          <a:prstGeom prst="rightArrow">
            <a:avLst/>
          </a:prstGeom>
          <a:solidFill>
            <a:srgbClr val="86C440"/>
          </a:solidFill>
          <a:ln/>
        </p:spPr>
      </p:sp>
      <p:sp>
        <p:nvSpPr>
          <p:cNvPr id="14" name="Shape 10"/>
          <p:cNvSpPr/>
          <p:nvPr/>
        </p:nvSpPr>
        <p:spPr>
          <a:xfrm>
            <a:off x="3651504" y="2788920"/>
            <a:ext cx="2606040" cy="2880360"/>
          </a:xfrm>
          <a:prstGeom prst="roundRect">
            <a:avLst>
              <a:gd name="adj" fmla="val 3509"/>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15" name="Shape 11"/>
          <p:cNvSpPr/>
          <p:nvPr/>
        </p:nvSpPr>
        <p:spPr>
          <a:xfrm>
            <a:off x="3925824" y="3108960"/>
            <a:ext cx="777240" cy="777240"/>
          </a:xfrm>
          <a:prstGeom prst="ellipse">
            <a:avLst/>
          </a:prstGeom>
          <a:solidFill>
            <a:srgbClr val="ECF3E1"/>
          </a:solidFill>
          <a:ln/>
        </p:spPr>
      </p:sp>
      <p:pic>
        <p:nvPicPr>
          <p:cNvPr id="16" name="Image 2" descr="preencoded.png">    </p:cNvPr>
          <p:cNvPicPr>
            <a:picLocks noChangeAspect="1"/>
          </p:cNvPicPr>
          <p:nvPr/>
        </p:nvPicPr>
        <p:blipFill>
          <a:blip r:embed="rId3"/>
          <a:stretch>
            <a:fillRect/>
          </a:stretch>
        </p:blipFill>
        <p:spPr>
          <a:xfrm>
            <a:off x="4140708" y="3323844"/>
            <a:ext cx="347472" cy="347472"/>
          </a:xfrm>
          <a:prstGeom prst="rect">
            <a:avLst/>
          </a:prstGeom>
        </p:spPr>
      </p:pic>
      <p:sp>
        <p:nvSpPr>
          <p:cNvPr id="17" name="Text 12"/>
          <p:cNvSpPr txBox="1"/>
          <p:nvPr/>
        </p:nvSpPr>
        <p:spPr>
          <a:xfrm>
            <a:off x="3925824" y="4023360"/>
            <a:ext cx="2057400" cy="256032"/>
          </a:xfrm>
          <a:prstGeom prst="rect">
            <a:avLst/>
          </a:prstGeom>
          <a:noFill/>
          <a:ln/>
        </p:spPr>
        <p:txBody>
          <a:bodyPr wrap="square" rtlCol="0" anchor="ctr"/>
          <a:lstStyle/>
          <a:p>
            <a:pPr indent="0" marL="0">
              <a:buNone/>
            </a:pPr>
            <a:r>
              <a:rPr lang="en-US" sz="1000" b="1" spc="150" kern="0" dirty="0">
                <a:solidFill>
                  <a:srgbClr val="86C440"/>
                </a:solidFill>
                <a:latin typeface="Calibri" pitchFamily="34" charset="0"/>
                <a:ea typeface="Calibri" pitchFamily="34" charset="-122"/>
                <a:cs typeface="Calibri" pitchFamily="34" charset="-120"/>
              </a:rPr>
              <a:t>STEP 2</a:t>
            </a:r>
            <a:endParaRPr lang="en-US" sz="1000" dirty="0"/>
          </a:p>
        </p:txBody>
      </p:sp>
      <p:sp>
        <p:nvSpPr>
          <p:cNvPr id="18" name="Text 13"/>
          <p:cNvSpPr txBox="1"/>
          <p:nvPr/>
        </p:nvSpPr>
        <p:spPr>
          <a:xfrm>
            <a:off x="3925824" y="4251960"/>
            <a:ext cx="2057400" cy="457200"/>
          </a:xfrm>
          <a:prstGeom prst="rect">
            <a:avLst/>
          </a:prstGeom>
          <a:noFill/>
          <a:ln/>
        </p:spPr>
        <p:txBody>
          <a:bodyPr wrap="square" rtlCol="0" anchor="ctr"/>
          <a:lstStyle/>
          <a:p>
            <a:pPr indent="0" marL="0">
              <a:buNone/>
            </a:pPr>
            <a:r>
              <a:rPr lang="en-US" sz="1800" b="1" dirty="0">
                <a:solidFill>
                  <a:srgbClr val="14401F"/>
                </a:solidFill>
                <a:latin typeface="Calibri" pitchFamily="34" charset="0"/>
                <a:ea typeface="Calibri" pitchFamily="34" charset="-122"/>
                <a:cs typeface="Calibri" pitchFamily="34" charset="-120"/>
              </a:rPr>
              <a:t>~€5k projected</a:t>
            </a:r>
            <a:endParaRPr lang="en-US" sz="1800" dirty="0"/>
          </a:p>
        </p:txBody>
      </p:sp>
      <p:sp>
        <p:nvSpPr>
          <p:cNvPr id="19" name="Text 14"/>
          <p:cNvSpPr txBox="1"/>
          <p:nvPr/>
        </p:nvSpPr>
        <p:spPr>
          <a:xfrm>
            <a:off x="3925824" y="4727448"/>
            <a:ext cx="2103120" cy="822960"/>
          </a:xfrm>
          <a:prstGeom prst="rect">
            <a:avLst/>
          </a:prstGeom>
          <a:noFill/>
          <a:ln/>
        </p:spPr>
        <p:txBody>
          <a:bodyPr wrap="square" rtlCol="0" anchor="ctr"/>
          <a:lstStyle/>
          <a:p>
            <a:pPr indent="0" marL="0">
              <a:lnSpc>
                <a:spcPct val="112000"/>
              </a:lnSpc>
              <a:buNone/>
            </a:pPr>
            <a:r>
              <a:rPr lang="en-US" sz="1250" dirty="0">
                <a:solidFill>
                  <a:srgbClr val="5C6B5A"/>
                </a:solidFill>
                <a:latin typeface="Calibri" pitchFamily="34" charset="0"/>
                <a:ea typeface="Calibri" pitchFamily="34" charset="-122"/>
                <a:cs typeface="Calibri" pitchFamily="34" charset="-120"/>
              </a:rPr>
              <a:t>We estimate your refund and advance it as a balance.</a:t>
            </a:r>
            <a:endParaRPr lang="en-US" sz="1250" dirty="0"/>
          </a:p>
        </p:txBody>
      </p:sp>
      <p:sp>
        <p:nvSpPr>
          <p:cNvPr id="20" name="Shape 15"/>
          <p:cNvSpPr/>
          <p:nvPr/>
        </p:nvSpPr>
        <p:spPr>
          <a:xfrm>
            <a:off x="6222492" y="4110228"/>
            <a:ext cx="292608" cy="237744"/>
          </a:xfrm>
          <a:prstGeom prst="rightArrow">
            <a:avLst/>
          </a:prstGeom>
          <a:solidFill>
            <a:srgbClr val="86C440"/>
          </a:solidFill>
          <a:ln/>
        </p:spPr>
      </p:sp>
      <p:sp>
        <p:nvSpPr>
          <p:cNvPr id="21" name="Shape 16"/>
          <p:cNvSpPr/>
          <p:nvPr/>
        </p:nvSpPr>
        <p:spPr>
          <a:xfrm>
            <a:off x="6480048" y="2788920"/>
            <a:ext cx="2606040" cy="2880360"/>
          </a:xfrm>
          <a:prstGeom prst="roundRect">
            <a:avLst>
              <a:gd name="adj" fmla="val 3509"/>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22" name="Shape 17"/>
          <p:cNvSpPr/>
          <p:nvPr/>
        </p:nvSpPr>
        <p:spPr>
          <a:xfrm>
            <a:off x="6754368" y="3108960"/>
            <a:ext cx="777240" cy="777240"/>
          </a:xfrm>
          <a:prstGeom prst="ellipse">
            <a:avLst/>
          </a:prstGeom>
          <a:solidFill>
            <a:srgbClr val="ECF3E1"/>
          </a:solidFill>
          <a:ln/>
        </p:spPr>
      </p:sp>
      <p:pic>
        <p:nvPicPr>
          <p:cNvPr id="23" name="Image 3" descr="preencoded.png">    </p:cNvPr>
          <p:cNvPicPr>
            <a:picLocks noChangeAspect="1"/>
          </p:cNvPicPr>
          <p:nvPr/>
        </p:nvPicPr>
        <p:blipFill>
          <a:blip r:embed="rId4"/>
          <a:stretch>
            <a:fillRect/>
          </a:stretch>
        </p:blipFill>
        <p:spPr>
          <a:xfrm>
            <a:off x="6969252" y="3323844"/>
            <a:ext cx="347472" cy="347472"/>
          </a:xfrm>
          <a:prstGeom prst="rect">
            <a:avLst/>
          </a:prstGeom>
        </p:spPr>
      </p:pic>
      <p:sp>
        <p:nvSpPr>
          <p:cNvPr id="24" name="Text 18"/>
          <p:cNvSpPr txBox="1"/>
          <p:nvPr/>
        </p:nvSpPr>
        <p:spPr>
          <a:xfrm>
            <a:off x="6754368" y="4023360"/>
            <a:ext cx="2057400" cy="256032"/>
          </a:xfrm>
          <a:prstGeom prst="rect">
            <a:avLst/>
          </a:prstGeom>
          <a:noFill/>
          <a:ln/>
        </p:spPr>
        <p:txBody>
          <a:bodyPr wrap="square" rtlCol="0" anchor="ctr"/>
          <a:lstStyle/>
          <a:p>
            <a:pPr indent="0" marL="0">
              <a:buNone/>
            </a:pPr>
            <a:r>
              <a:rPr lang="en-US" sz="1000" b="1" spc="150" kern="0" dirty="0">
                <a:solidFill>
                  <a:srgbClr val="86C440"/>
                </a:solidFill>
                <a:latin typeface="Calibri" pitchFamily="34" charset="0"/>
                <a:ea typeface="Calibri" pitchFamily="34" charset="-122"/>
                <a:cs typeface="Calibri" pitchFamily="34" charset="-120"/>
              </a:rPr>
              <a:t>STEP 3</a:t>
            </a:r>
            <a:endParaRPr lang="en-US" sz="1000" dirty="0"/>
          </a:p>
        </p:txBody>
      </p:sp>
      <p:sp>
        <p:nvSpPr>
          <p:cNvPr id="25" name="Text 19"/>
          <p:cNvSpPr txBox="1"/>
          <p:nvPr/>
        </p:nvSpPr>
        <p:spPr>
          <a:xfrm>
            <a:off x="6754368" y="4251960"/>
            <a:ext cx="2057400" cy="457200"/>
          </a:xfrm>
          <a:prstGeom prst="rect">
            <a:avLst/>
          </a:prstGeom>
          <a:noFill/>
          <a:ln/>
        </p:spPr>
        <p:txBody>
          <a:bodyPr wrap="square" rtlCol="0" anchor="ctr"/>
          <a:lstStyle/>
          <a:p>
            <a:pPr indent="0" marL="0">
              <a:buNone/>
            </a:pPr>
            <a:r>
              <a:rPr lang="en-US" sz="1800" b="1" dirty="0">
                <a:solidFill>
                  <a:srgbClr val="14401F"/>
                </a:solidFill>
                <a:latin typeface="Calibri" pitchFamily="34" charset="0"/>
                <a:ea typeface="Calibri" pitchFamily="34" charset="-122"/>
                <a:cs typeface="Calibri" pitchFamily="34" charset="-120"/>
              </a:rPr>
              <a:t>Access it today</a:t>
            </a:r>
            <a:endParaRPr lang="en-US" sz="1800" dirty="0"/>
          </a:p>
        </p:txBody>
      </p:sp>
      <p:sp>
        <p:nvSpPr>
          <p:cNvPr id="26" name="Text 20"/>
          <p:cNvSpPr txBox="1"/>
          <p:nvPr/>
        </p:nvSpPr>
        <p:spPr>
          <a:xfrm>
            <a:off x="6754368" y="4727448"/>
            <a:ext cx="2103120" cy="822960"/>
          </a:xfrm>
          <a:prstGeom prst="rect">
            <a:avLst/>
          </a:prstGeom>
          <a:noFill/>
          <a:ln/>
        </p:spPr>
        <p:txBody>
          <a:bodyPr wrap="square" rtlCol="0" anchor="ctr"/>
          <a:lstStyle/>
          <a:p>
            <a:pPr indent="0" marL="0">
              <a:lnSpc>
                <a:spcPct val="112000"/>
              </a:lnSpc>
              <a:buNone/>
            </a:pPr>
            <a:r>
              <a:rPr lang="en-US" sz="1250" dirty="0">
                <a:solidFill>
                  <a:srgbClr val="5C6B5A"/>
                </a:solidFill>
                <a:latin typeface="Calibri" pitchFamily="34" charset="0"/>
                <a:ea typeface="Calibri" pitchFamily="34" charset="-122"/>
                <a:cs typeface="Calibri" pitchFamily="34" charset="-120"/>
              </a:rPr>
              <a:t>Spend the advance now, then use the card every day.</a:t>
            </a:r>
            <a:endParaRPr lang="en-US" sz="1250" dirty="0"/>
          </a:p>
        </p:txBody>
      </p:sp>
      <p:sp>
        <p:nvSpPr>
          <p:cNvPr id="27" name="Shape 21"/>
          <p:cNvSpPr/>
          <p:nvPr/>
        </p:nvSpPr>
        <p:spPr>
          <a:xfrm>
            <a:off x="9051036" y="4110228"/>
            <a:ext cx="292608" cy="237744"/>
          </a:xfrm>
          <a:prstGeom prst="rightArrow">
            <a:avLst/>
          </a:prstGeom>
          <a:solidFill>
            <a:srgbClr val="86C440"/>
          </a:solidFill>
          <a:ln/>
        </p:spPr>
      </p:sp>
      <p:sp>
        <p:nvSpPr>
          <p:cNvPr id="28" name="Shape 22"/>
          <p:cNvSpPr/>
          <p:nvPr/>
        </p:nvSpPr>
        <p:spPr>
          <a:xfrm>
            <a:off x="9308592" y="2788920"/>
            <a:ext cx="2606040" cy="2880360"/>
          </a:xfrm>
          <a:prstGeom prst="roundRect">
            <a:avLst>
              <a:gd name="adj" fmla="val 3509"/>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29" name="Shape 23"/>
          <p:cNvSpPr/>
          <p:nvPr/>
        </p:nvSpPr>
        <p:spPr>
          <a:xfrm>
            <a:off x="9582912" y="3108960"/>
            <a:ext cx="777240" cy="777240"/>
          </a:xfrm>
          <a:prstGeom prst="ellipse">
            <a:avLst/>
          </a:prstGeom>
          <a:solidFill>
            <a:srgbClr val="ECF3E1"/>
          </a:solidFill>
          <a:ln/>
        </p:spPr>
      </p:sp>
      <p:pic>
        <p:nvPicPr>
          <p:cNvPr id="30" name="Image 4" descr="preencoded.png">    </p:cNvPr>
          <p:cNvPicPr>
            <a:picLocks noChangeAspect="1"/>
          </p:cNvPicPr>
          <p:nvPr/>
        </p:nvPicPr>
        <p:blipFill>
          <a:blip r:embed="rId5"/>
          <a:stretch>
            <a:fillRect/>
          </a:stretch>
        </p:blipFill>
        <p:spPr>
          <a:xfrm>
            <a:off x="9797796" y="3323844"/>
            <a:ext cx="347472" cy="347472"/>
          </a:xfrm>
          <a:prstGeom prst="rect">
            <a:avLst/>
          </a:prstGeom>
        </p:spPr>
      </p:pic>
      <p:sp>
        <p:nvSpPr>
          <p:cNvPr id="31" name="Text 24"/>
          <p:cNvSpPr txBox="1"/>
          <p:nvPr/>
        </p:nvSpPr>
        <p:spPr>
          <a:xfrm>
            <a:off x="9582912" y="4023360"/>
            <a:ext cx="2057400" cy="256032"/>
          </a:xfrm>
          <a:prstGeom prst="rect">
            <a:avLst/>
          </a:prstGeom>
          <a:noFill/>
          <a:ln/>
        </p:spPr>
        <p:txBody>
          <a:bodyPr wrap="square" rtlCol="0" anchor="ctr"/>
          <a:lstStyle/>
          <a:p>
            <a:pPr indent="0" marL="0">
              <a:buNone/>
            </a:pPr>
            <a:r>
              <a:rPr lang="en-US" sz="1000" b="1" spc="150" kern="0" dirty="0">
                <a:solidFill>
                  <a:srgbClr val="86C440"/>
                </a:solidFill>
                <a:latin typeface="Calibri" pitchFamily="34" charset="0"/>
                <a:ea typeface="Calibri" pitchFamily="34" charset="-122"/>
                <a:cs typeface="Calibri" pitchFamily="34" charset="-120"/>
              </a:rPr>
              <a:t>STEP 4</a:t>
            </a:r>
            <a:endParaRPr lang="en-US" sz="1000" dirty="0"/>
          </a:p>
        </p:txBody>
      </p:sp>
      <p:sp>
        <p:nvSpPr>
          <p:cNvPr id="32" name="Text 25"/>
          <p:cNvSpPr txBox="1"/>
          <p:nvPr/>
        </p:nvSpPr>
        <p:spPr>
          <a:xfrm>
            <a:off x="9582912" y="4251960"/>
            <a:ext cx="2057400" cy="457200"/>
          </a:xfrm>
          <a:prstGeom prst="rect">
            <a:avLst/>
          </a:prstGeom>
          <a:noFill/>
          <a:ln/>
        </p:spPr>
        <p:txBody>
          <a:bodyPr wrap="square" rtlCol="0" anchor="ctr"/>
          <a:lstStyle/>
          <a:p>
            <a:pPr indent="0" marL="0">
              <a:buNone/>
            </a:pPr>
            <a:r>
              <a:rPr lang="en-US" sz="1800" b="1" dirty="0">
                <a:solidFill>
                  <a:srgbClr val="14401F"/>
                </a:solidFill>
                <a:latin typeface="Calibri" pitchFamily="34" charset="0"/>
                <a:ea typeface="Calibri" pitchFamily="34" charset="-122"/>
                <a:cs typeface="Calibri" pitchFamily="34" charset="-120"/>
              </a:rPr>
              <a:t>It grows back</a:t>
            </a:r>
            <a:endParaRPr lang="en-US" sz="1800" dirty="0"/>
          </a:p>
        </p:txBody>
      </p:sp>
      <p:sp>
        <p:nvSpPr>
          <p:cNvPr id="33" name="Text 26"/>
          <p:cNvSpPr txBox="1"/>
          <p:nvPr/>
        </p:nvSpPr>
        <p:spPr>
          <a:xfrm>
            <a:off x="9582912" y="4727448"/>
            <a:ext cx="2103120" cy="822960"/>
          </a:xfrm>
          <a:prstGeom prst="rect">
            <a:avLst/>
          </a:prstGeom>
          <a:noFill/>
          <a:ln/>
        </p:spPr>
        <p:txBody>
          <a:bodyPr wrap="square" rtlCol="0" anchor="ctr"/>
          <a:lstStyle/>
          <a:p>
            <a:pPr indent="0" marL="0">
              <a:lnSpc>
                <a:spcPct val="112000"/>
              </a:lnSpc>
              <a:buNone/>
            </a:pPr>
            <a:r>
              <a:rPr lang="en-US" sz="1250" dirty="0">
                <a:solidFill>
                  <a:srgbClr val="5C6B5A"/>
                </a:solidFill>
                <a:latin typeface="Calibri" pitchFamily="34" charset="0"/>
                <a:ea typeface="Calibri" pitchFamily="34" charset="-122"/>
                <a:cs typeface="Calibri" pitchFamily="34" charset="-120"/>
              </a:rPr>
              <a:t>Each purchase is auto-tagged and builds next year’s refund.</a:t>
            </a:r>
            <a:endParaRPr lang="en-US" sz="1250" dirty="0"/>
          </a:p>
        </p:txBody>
      </p:sp>
      <p:sp>
        <p:nvSpPr>
          <p:cNvPr id="34" name="Text 27"/>
          <p:cNvSpPr txBox="1"/>
          <p:nvPr/>
        </p:nvSpPr>
        <p:spPr>
          <a:xfrm>
            <a:off x="11430000" y="6355080"/>
            <a:ext cx="548640" cy="274320"/>
          </a:xfrm>
          <a:prstGeom prst="rect">
            <a:avLst/>
          </a:prstGeom>
          <a:noFill/>
          <a:ln/>
        </p:spPr>
        <p:txBody>
          <a:bodyPr wrap="square" rtlCol="0" anchor="ctr"/>
          <a:lstStyle/>
          <a:p>
            <a:pPr algn="r" indent="0" marL="0">
              <a:buNone/>
            </a:pPr>
            <a:r>
              <a:rPr lang="en-US" sz="1000" dirty="0">
                <a:solidFill>
                  <a:srgbClr val="5C6B5A"/>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401F"/>
        </a:solidFill>
      </p:bgPr>
    </p:bg>
    <p:spTree>
      <p:nvGrpSpPr>
        <p:cNvPr id="1" name=""/>
        <p:cNvGrpSpPr/>
        <p:nvPr/>
      </p:nvGrpSpPr>
      <p:grpSpPr>
        <a:xfrm>
          <a:off x="0" y="0"/>
          <a:ext cx="0" cy="0"/>
          <a:chOff x="0" y="0"/>
          <a:chExt cx="0" cy="0"/>
        </a:xfrm>
      </p:grpSpPr>
      <p:sp>
        <p:nvSpPr>
          <p:cNvPr id="2" name="Shape 0"/>
          <p:cNvSpPr/>
          <p:nvPr/>
        </p:nvSpPr>
        <p:spPr>
          <a:xfrm>
            <a:off x="9875520" y="4572000"/>
            <a:ext cx="3840480" cy="3840480"/>
          </a:xfrm>
          <a:prstGeom prst="ellipse">
            <a:avLst/>
          </a:prstGeom>
          <a:solidFill>
            <a:srgbClr val="1C5228"/>
          </a:solidFill>
          <a:ln/>
        </p:spPr>
      </p:sp>
      <p:sp>
        <p:nvSpPr>
          <p:cNvPr id="3" name="Shape 1"/>
          <p:cNvSpPr/>
          <p:nvPr/>
        </p:nvSpPr>
        <p:spPr>
          <a:xfrm>
            <a:off x="548640" y="502920"/>
            <a:ext cx="566928" cy="566928"/>
          </a:xfrm>
          <a:prstGeom prst="ellipse">
            <a:avLst/>
          </a:prstGeom>
          <a:solidFill>
            <a:srgbClr val="86C440"/>
          </a:solidFill>
          <a:ln/>
        </p:spPr>
      </p:sp>
      <p:pic>
        <p:nvPicPr>
          <p:cNvPr id="4" name="Image 0" descr="preencoded.png">    </p:cNvPr>
          <p:cNvPicPr>
            <a:picLocks noChangeAspect="1"/>
          </p:cNvPicPr>
          <p:nvPr/>
        </p:nvPicPr>
        <p:blipFill>
          <a:blip r:embed="rId1"/>
          <a:stretch>
            <a:fillRect/>
          </a:stretch>
        </p:blipFill>
        <p:spPr>
          <a:xfrm>
            <a:off x="690372" y="644652"/>
            <a:ext cx="283464" cy="283464"/>
          </a:xfrm>
          <a:prstGeom prst="rect">
            <a:avLst/>
          </a:prstGeom>
        </p:spPr>
      </p:pic>
      <p:sp>
        <p:nvSpPr>
          <p:cNvPr id="5" name="Text 2"/>
          <p:cNvSpPr txBox="1"/>
          <p:nvPr/>
        </p:nvSpPr>
        <p:spPr>
          <a:xfrm>
            <a:off x="1280160" y="457200"/>
            <a:ext cx="9144000" cy="274320"/>
          </a:xfrm>
          <a:prstGeom prst="rect">
            <a:avLst/>
          </a:prstGeom>
          <a:noFill/>
          <a:ln/>
        </p:spPr>
        <p:txBody>
          <a:bodyPr wrap="square" rtlCol="0" anchor="ctr"/>
          <a:lstStyle/>
          <a:p>
            <a:pPr indent="0" marL="0">
              <a:buNone/>
            </a:pPr>
            <a:r>
              <a:rPr lang="en-US" sz="1200" b="1" spc="200" kern="0" dirty="0">
                <a:solidFill>
                  <a:srgbClr val="86C440"/>
                </a:solidFill>
                <a:latin typeface="Calibri" pitchFamily="34" charset="0"/>
                <a:ea typeface="Calibri" pitchFamily="34" charset="-122"/>
                <a:cs typeface="Calibri" pitchFamily="34" charset="-120"/>
              </a:rPr>
              <a:t>THE RETURN LOOP</a:t>
            </a:r>
            <a:endParaRPr lang="en-US" sz="1200" dirty="0"/>
          </a:p>
        </p:txBody>
      </p:sp>
      <p:sp>
        <p:nvSpPr>
          <p:cNvPr id="6" name="Text 3"/>
          <p:cNvSpPr txBox="1"/>
          <p:nvPr/>
        </p:nvSpPr>
        <p:spPr>
          <a:xfrm>
            <a:off x="1280160" y="694944"/>
            <a:ext cx="10058400" cy="6400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Daily spend is the engine</a:t>
            </a:r>
            <a:endParaRPr lang="en-US" sz="3000" dirty="0"/>
          </a:p>
        </p:txBody>
      </p:sp>
      <p:sp>
        <p:nvSpPr>
          <p:cNvPr id="7" name="Shape 4"/>
          <p:cNvSpPr/>
          <p:nvPr/>
        </p:nvSpPr>
        <p:spPr>
          <a:xfrm>
            <a:off x="822960" y="1965960"/>
            <a:ext cx="2487168" cy="1600200"/>
          </a:xfrm>
          <a:prstGeom prst="roundRect">
            <a:avLst>
              <a:gd name="adj" fmla="val 5714"/>
            </a:avLst>
          </a:prstGeom>
          <a:solidFill>
            <a:srgbClr val="FFFFFF"/>
          </a:solidFill>
          <a:ln/>
          <a:effectLst>
            <a:outerShdw sx="100000" sy="100000" kx="0" ky="0" algn="bl" rotWithShape="0" blurRad="101600" dist="25400" dir="5400000">
              <a:srgbClr val="000000">
                <a:alpha val="18000"/>
              </a:srgbClr>
            </a:outerShdw>
          </a:effectLst>
        </p:spPr>
      </p:sp>
      <p:sp>
        <p:nvSpPr>
          <p:cNvPr id="8" name="Text 5"/>
          <p:cNvSpPr txBox="1"/>
          <p:nvPr/>
        </p:nvSpPr>
        <p:spPr>
          <a:xfrm>
            <a:off x="1024128" y="2130552"/>
            <a:ext cx="457200" cy="365760"/>
          </a:xfrm>
          <a:prstGeom prst="rect">
            <a:avLst/>
          </a:prstGeom>
          <a:noFill/>
          <a:ln/>
        </p:spPr>
        <p:txBody>
          <a:bodyPr wrap="square" rtlCol="0" anchor="ctr"/>
          <a:lstStyle/>
          <a:p>
            <a:pPr indent="0" marL="0">
              <a:buNone/>
            </a:pPr>
            <a:r>
              <a:rPr lang="en-US" sz="1500" b="1" dirty="0">
                <a:solidFill>
                  <a:srgbClr val="86C440"/>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371600" y="2130552"/>
            <a:ext cx="1801368" cy="365760"/>
          </a:xfrm>
          <a:prstGeom prst="rect">
            <a:avLst/>
          </a:prstGeom>
          <a:noFill/>
          <a:ln/>
        </p:spPr>
        <p:txBody>
          <a:bodyPr wrap="square" rtlCol="0" anchor="ctr"/>
          <a:lstStyle/>
          <a:p>
            <a:pPr indent="0" marL="0">
              <a:buNone/>
            </a:pPr>
            <a:r>
              <a:rPr lang="en-US" sz="1500" b="1" dirty="0">
                <a:solidFill>
                  <a:srgbClr val="14401F"/>
                </a:solidFill>
                <a:latin typeface="Calibri" pitchFamily="34" charset="0"/>
                <a:ea typeface="Calibri" pitchFamily="34" charset="-122"/>
                <a:cs typeface="Calibri" pitchFamily="34" charset="-120"/>
              </a:rPr>
              <a:t>Advance</a:t>
            </a:r>
            <a:endParaRPr lang="en-US" sz="1500" dirty="0"/>
          </a:p>
        </p:txBody>
      </p:sp>
      <p:sp>
        <p:nvSpPr>
          <p:cNvPr id="10" name="Text 7"/>
          <p:cNvSpPr txBox="1"/>
          <p:nvPr/>
        </p:nvSpPr>
        <p:spPr>
          <a:xfrm>
            <a:off x="1024128" y="2569464"/>
            <a:ext cx="2103120" cy="914400"/>
          </a:xfrm>
          <a:prstGeom prst="rect">
            <a:avLst/>
          </a:prstGeom>
          <a:noFill/>
          <a:ln/>
        </p:spPr>
        <p:txBody>
          <a:bodyPr wrap="square" rtlCol="0" anchor="ctr"/>
          <a:lstStyle/>
          <a:p>
            <a:pPr indent="0" marL="0">
              <a:lnSpc>
                <a:spcPct val="110000"/>
              </a:lnSpc>
              <a:buNone/>
            </a:pPr>
            <a:r>
              <a:rPr lang="en-US" sz="1150" dirty="0">
                <a:solidFill>
                  <a:srgbClr val="5C6B5A"/>
                </a:solidFill>
                <a:latin typeface="Calibri" pitchFamily="34" charset="0"/>
                <a:ea typeface="Calibri" pitchFamily="34" charset="-122"/>
                <a:cs typeface="Calibri" pitchFamily="34" charset="-120"/>
              </a:rPr>
              <a:t>File once → refund advanced as a spendable balance today</a:t>
            </a:r>
            <a:endParaRPr lang="en-US" sz="1150" dirty="0"/>
          </a:p>
        </p:txBody>
      </p:sp>
      <p:sp>
        <p:nvSpPr>
          <p:cNvPr id="11" name="Shape 8"/>
          <p:cNvSpPr/>
          <p:nvPr/>
        </p:nvSpPr>
        <p:spPr>
          <a:xfrm>
            <a:off x="3354324" y="2638044"/>
            <a:ext cx="292608" cy="256032"/>
          </a:xfrm>
          <a:prstGeom prst="rightArrow">
            <a:avLst/>
          </a:prstGeom>
          <a:solidFill>
            <a:srgbClr val="86C440"/>
          </a:solidFill>
          <a:ln/>
        </p:spPr>
      </p:sp>
      <p:sp>
        <p:nvSpPr>
          <p:cNvPr id="12" name="Shape 9"/>
          <p:cNvSpPr/>
          <p:nvPr/>
        </p:nvSpPr>
        <p:spPr>
          <a:xfrm>
            <a:off x="3691128" y="1965960"/>
            <a:ext cx="2487168" cy="1600200"/>
          </a:xfrm>
          <a:prstGeom prst="roundRect">
            <a:avLst>
              <a:gd name="adj" fmla="val 5714"/>
            </a:avLst>
          </a:prstGeom>
          <a:solidFill>
            <a:srgbClr val="FFFFFF"/>
          </a:solidFill>
          <a:ln/>
          <a:effectLst>
            <a:outerShdw sx="100000" sy="100000" kx="0" ky="0" algn="bl" rotWithShape="0" blurRad="101600" dist="25400" dir="5400000">
              <a:srgbClr val="000000">
                <a:alpha val="18000"/>
              </a:srgbClr>
            </a:outerShdw>
          </a:effectLst>
        </p:spPr>
      </p:sp>
      <p:sp>
        <p:nvSpPr>
          <p:cNvPr id="13" name="Text 10"/>
          <p:cNvSpPr txBox="1"/>
          <p:nvPr/>
        </p:nvSpPr>
        <p:spPr>
          <a:xfrm>
            <a:off x="3892296" y="2130552"/>
            <a:ext cx="457200" cy="365760"/>
          </a:xfrm>
          <a:prstGeom prst="rect">
            <a:avLst/>
          </a:prstGeom>
          <a:noFill/>
          <a:ln/>
        </p:spPr>
        <p:txBody>
          <a:bodyPr wrap="square" rtlCol="0" anchor="ctr"/>
          <a:lstStyle/>
          <a:p>
            <a:pPr indent="0" marL="0">
              <a:buNone/>
            </a:pPr>
            <a:r>
              <a:rPr lang="en-US" sz="1500" b="1" dirty="0">
                <a:solidFill>
                  <a:srgbClr val="86C440"/>
                </a:solidFill>
                <a:latin typeface="Calibri" pitchFamily="34" charset="0"/>
                <a:ea typeface="Calibri" pitchFamily="34" charset="-122"/>
                <a:cs typeface="Calibri" pitchFamily="34" charset="-120"/>
              </a:rPr>
              <a:t>2</a:t>
            </a:r>
            <a:endParaRPr lang="en-US" sz="1500" dirty="0"/>
          </a:p>
        </p:txBody>
      </p:sp>
      <p:sp>
        <p:nvSpPr>
          <p:cNvPr id="14" name="Text 11"/>
          <p:cNvSpPr txBox="1"/>
          <p:nvPr/>
        </p:nvSpPr>
        <p:spPr>
          <a:xfrm>
            <a:off x="4239768" y="2130552"/>
            <a:ext cx="1801368" cy="365760"/>
          </a:xfrm>
          <a:prstGeom prst="rect">
            <a:avLst/>
          </a:prstGeom>
          <a:noFill/>
          <a:ln/>
        </p:spPr>
        <p:txBody>
          <a:bodyPr wrap="square" rtlCol="0" anchor="ctr"/>
          <a:lstStyle/>
          <a:p>
            <a:pPr indent="0" marL="0">
              <a:buNone/>
            </a:pPr>
            <a:r>
              <a:rPr lang="en-US" sz="1500" b="1" dirty="0">
                <a:solidFill>
                  <a:srgbClr val="14401F"/>
                </a:solidFill>
                <a:latin typeface="Calibri" pitchFamily="34" charset="0"/>
                <a:ea typeface="Calibri" pitchFamily="34" charset="-122"/>
                <a:cs typeface="Calibri" pitchFamily="34" charset="-120"/>
              </a:rPr>
              <a:t>Spend daily</a:t>
            </a:r>
            <a:endParaRPr lang="en-US" sz="1500" dirty="0"/>
          </a:p>
        </p:txBody>
      </p:sp>
      <p:sp>
        <p:nvSpPr>
          <p:cNvPr id="15" name="Text 12"/>
          <p:cNvSpPr txBox="1"/>
          <p:nvPr/>
        </p:nvSpPr>
        <p:spPr>
          <a:xfrm>
            <a:off x="3892296" y="2569464"/>
            <a:ext cx="2103120" cy="914400"/>
          </a:xfrm>
          <a:prstGeom prst="rect">
            <a:avLst/>
          </a:prstGeom>
          <a:noFill/>
          <a:ln/>
        </p:spPr>
        <p:txBody>
          <a:bodyPr wrap="square" rtlCol="0" anchor="ctr"/>
          <a:lstStyle/>
          <a:p>
            <a:pPr indent="0" marL="0">
              <a:lnSpc>
                <a:spcPct val="110000"/>
              </a:lnSpc>
              <a:buNone/>
            </a:pPr>
            <a:r>
              <a:rPr lang="en-US" sz="1150" dirty="0">
                <a:solidFill>
                  <a:srgbClr val="5C6B5A"/>
                </a:solidFill>
                <a:latin typeface="Calibri" pitchFamily="34" charset="0"/>
                <a:ea typeface="Calibri" pitchFamily="34" charset="-122"/>
                <a:cs typeface="Calibri" pitchFamily="34" charset="-120"/>
              </a:rPr>
              <a:t>You use the Taxfix Card for everyday purchases</a:t>
            </a:r>
            <a:endParaRPr lang="en-US" sz="1150" dirty="0"/>
          </a:p>
        </p:txBody>
      </p:sp>
      <p:sp>
        <p:nvSpPr>
          <p:cNvPr id="16" name="Shape 13"/>
          <p:cNvSpPr/>
          <p:nvPr/>
        </p:nvSpPr>
        <p:spPr>
          <a:xfrm>
            <a:off x="6222492" y="2638044"/>
            <a:ext cx="292608" cy="256032"/>
          </a:xfrm>
          <a:prstGeom prst="rightArrow">
            <a:avLst/>
          </a:prstGeom>
          <a:solidFill>
            <a:srgbClr val="86C440"/>
          </a:solidFill>
          <a:ln/>
        </p:spPr>
      </p:sp>
      <p:sp>
        <p:nvSpPr>
          <p:cNvPr id="17" name="Shape 14"/>
          <p:cNvSpPr/>
          <p:nvPr/>
        </p:nvSpPr>
        <p:spPr>
          <a:xfrm>
            <a:off x="6559296" y="1965960"/>
            <a:ext cx="2487168" cy="1600200"/>
          </a:xfrm>
          <a:prstGeom prst="roundRect">
            <a:avLst>
              <a:gd name="adj" fmla="val 5714"/>
            </a:avLst>
          </a:prstGeom>
          <a:solidFill>
            <a:srgbClr val="FFFFFF"/>
          </a:solidFill>
          <a:ln/>
          <a:effectLst>
            <a:outerShdw sx="100000" sy="100000" kx="0" ky="0" algn="bl" rotWithShape="0" blurRad="101600" dist="25400" dir="5400000">
              <a:srgbClr val="000000">
                <a:alpha val="18000"/>
              </a:srgbClr>
            </a:outerShdw>
          </a:effectLst>
        </p:spPr>
      </p:sp>
      <p:sp>
        <p:nvSpPr>
          <p:cNvPr id="18" name="Text 15"/>
          <p:cNvSpPr txBox="1"/>
          <p:nvPr/>
        </p:nvSpPr>
        <p:spPr>
          <a:xfrm>
            <a:off x="6760464" y="2130552"/>
            <a:ext cx="457200" cy="365760"/>
          </a:xfrm>
          <a:prstGeom prst="rect">
            <a:avLst/>
          </a:prstGeom>
          <a:noFill/>
          <a:ln/>
        </p:spPr>
        <p:txBody>
          <a:bodyPr wrap="square" rtlCol="0" anchor="ctr"/>
          <a:lstStyle/>
          <a:p>
            <a:pPr indent="0" marL="0">
              <a:buNone/>
            </a:pPr>
            <a:r>
              <a:rPr lang="en-US" sz="1500" b="1" dirty="0">
                <a:solidFill>
                  <a:srgbClr val="86C440"/>
                </a:solidFill>
                <a:latin typeface="Calibri" pitchFamily="34" charset="0"/>
                <a:ea typeface="Calibri" pitchFamily="34" charset="-122"/>
                <a:cs typeface="Calibri" pitchFamily="34" charset="-120"/>
              </a:rPr>
              <a:t>3</a:t>
            </a:r>
            <a:endParaRPr lang="en-US" sz="1500" dirty="0"/>
          </a:p>
        </p:txBody>
      </p:sp>
      <p:sp>
        <p:nvSpPr>
          <p:cNvPr id="19" name="Text 16"/>
          <p:cNvSpPr txBox="1"/>
          <p:nvPr/>
        </p:nvSpPr>
        <p:spPr>
          <a:xfrm>
            <a:off x="7107936" y="2130552"/>
            <a:ext cx="1801368" cy="365760"/>
          </a:xfrm>
          <a:prstGeom prst="rect">
            <a:avLst/>
          </a:prstGeom>
          <a:noFill/>
          <a:ln/>
        </p:spPr>
        <p:txBody>
          <a:bodyPr wrap="square" rtlCol="0" anchor="ctr"/>
          <a:lstStyle/>
          <a:p>
            <a:pPr indent="0" marL="0">
              <a:buNone/>
            </a:pPr>
            <a:r>
              <a:rPr lang="en-US" sz="1500" b="1" dirty="0">
                <a:solidFill>
                  <a:srgbClr val="14401F"/>
                </a:solidFill>
                <a:latin typeface="Calibri" pitchFamily="34" charset="0"/>
                <a:ea typeface="Calibri" pitchFamily="34" charset="-122"/>
                <a:cs typeface="Calibri" pitchFamily="34" charset="-120"/>
              </a:rPr>
              <a:t>Auto-categorize</a:t>
            </a:r>
            <a:endParaRPr lang="en-US" sz="1500" dirty="0"/>
          </a:p>
        </p:txBody>
      </p:sp>
      <p:sp>
        <p:nvSpPr>
          <p:cNvPr id="20" name="Text 17"/>
          <p:cNvSpPr txBox="1"/>
          <p:nvPr/>
        </p:nvSpPr>
        <p:spPr>
          <a:xfrm>
            <a:off x="6760464" y="2569464"/>
            <a:ext cx="2103120" cy="914400"/>
          </a:xfrm>
          <a:prstGeom prst="rect">
            <a:avLst/>
          </a:prstGeom>
          <a:noFill/>
          <a:ln/>
        </p:spPr>
        <p:txBody>
          <a:bodyPr wrap="square" rtlCol="0" anchor="ctr"/>
          <a:lstStyle/>
          <a:p>
            <a:pPr indent="0" marL="0">
              <a:lnSpc>
                <a:spcPct val="110000"/>
              </a:lnSpc>
              <a:buNone/>
            </a:pPr>
            <a:r>
              <a:rPr lang="en-US" sz="1150" dirty="0">
                <a:solidFill>
                  <a:srgbClr val="5C6B5A"/>
                </a:solidFill>
                <a:latin typeface="Calibri" pitchFamily="34" charset="0"/>
                <a:ea typeface="Calibri" pitchFamily="34" charset="-122"/>
                <a:cs typeface="Calibri" pitchFamily="34" charset="-120"/>
              </a:rPr>
              <a:t>Every purchase is tagged for tax relevance in the background</a:t>
            </a:r>
            <a:endParaRPr lang="en-US" sz="1150" dirty="0"/>
          </a:p>
        </p:txBody>
      </p:sp>
      <p:sp>
        <p:nvSpPr>
          <p:cNvPr id="21" name="Shape 18"/>
          <p:cNvSpPr/>
          <p:nvPr/>
        </p:nvSpPr>
        <p:spPr>
          <a:xfrm>
            <a:off x="9090660" y="2638044"/>
            <a:ext cx="292608" cy="256032"/>
          </a:xfrm>
          <a:prstGeom prst="rightArrow">
            <a:avLst/>
          </a:prstGeom>
          <a:solidFill>
            <a:srgbClr val="86C440"/>
          </a:solidFill>
          <a:ln/>
        </p:spPr>
      </p:sp>
      <p:sp>
        <p:nvSpPr>
          <p:cNvPr id="22" name="Shape 19"/>
          <p:cNvSpPr/>
          <p:nvPr/>
        </p:nvSpPr>
        <p:spPr>
          <a:xfrm>
            <a:off x="9427464" y="1965960"/>
            <a:ext cx="2487168" cy="1600200"/>
          </a:xfrm>
          <a:prstGeom prst="roundRect">
            <a:avLst>
              <a:gd name="adj" fmla="val 5714"/>
            </a:avLst>
          </a:prstGeom>
          <a:solidFill>
            <a:srgbClr val="FFFFFF"/>
          </a:solidFill>
          <a:ln/>
          <a:effectLst>
            <a:outerShdw sx="100000" sy="100000" kx="0" ky="0" algn="bl" rotWithShape="0" blurRad="101600" dist="25400" dir="5400000">
              <a:srgbClr val="000000">
                <a:alpha val="18000"/>
              </a:srgbClr>
            </a:outerShdw>
          </a:effectLst>
        </p:spPr>
      </p:sp>
      <p:sp>
        <p:nvSpPr>
          <p:cNvPr id="23" name="Text 20"/>
          <p:cNvSpPr txBox="1"/>
          <p:nvPr/>
        </p:nvSpPr>
        <p:spPr>
          <a:xfrm>
            <a:off x="9628632" y="2130552"/>
            <a:ext cx="457200" cy="365760"/>
          </a:xfrm>
          <a:prstGeom prst="rect">
            <a:avLst/>
          </a:prstGeom>
          <a:noFill/>
          <a:ln/>
        </p:spPr>
        <p:txBody>
          <a:bodyPr wrap="square" rtlCol="0" anchor="ctr"/>
          <a:lstStyle/>
          <a:p>
            <a:pPr indent="0" marL="0">
              <a:buNone/>
            </a:pPr>
            <a:r>
              <a:rPr lang="en-US" sz="1500" b="1" dirty="0">
                <a:solidFill>
                  <a:srgbClr val="86C440"/>
                </a:solidFill>
                <a:latin typeface="Calibri" pitchFamily="34" charset="0"/>
                <a:ea typeface="Calibri" pitchFamily="34" charset="-122"/>
                <a:cs typeface="Calibri" pitchFamily="34" charset="-120"/>
              </a:rPr>
              <a:t>4</a:t>
            </a:r>
            <a:endParaRPr lang="en-US" sz="1500" dirty="0"/>
          </a:p>
        </p:txBody>
      </p:sp>
      <p:sp>
        <p:nvSpPr>
          <p:cNvPr id="24" name="Text 21"/>
          <p:cNvSpPr txBox="1"/>
          <p:nvPr/>
        </p:nvSpPr>
        <p:spPr>
          <a:xfrm>
            <a:off x="9976104" y="2130552"/>
            <a:ext cx="1801368" cy="365760"/>
          </a:xfrm>
          <a:prstGeom prst="rect">
            <a:avLst/>
          </a:prstGeom>
          <a:noFill/>
          <a:ln/>
        </p:spPr>
        <p:txBody>
          <a:bodyPr wrap="square" rtlCol="0" anchor="ctr"/>
          <a:lstStyle/>
          <a:p>
            <a:pPr indent="0" marL="0">
              <a:buNone/>
            </a:pPr>
            <a:r>
              <a:rPr lang="en-US" sz="1500" b="1" dirty="0">
                <a:solidFill>
                  <a:srgbClr val="14401F"/>
                </a:solidFill>
                <a:latin typeface="Calibri" pitchFamily="34" charset="0"/>
                <a:ea typeface="Calibri" pitchFamily="34" charset="-122"/>
                <a:cs typeface="Calibri" pitchFamily="34" charset="-120"/>
              </a:rPr>
              <a:t>Real value</a:t>
            </a:r>
            <a:endParaRPr lang="en-US" sz="1500" dirty="0"/>
          </a:p>
        </p:txBody>
      </p:sp>
      <p:sp>
        <p:nvSpPr>
          <p:cNvPr id="25" name="Text 22"/>
          <p:cNvSpPr txBox="1"/>
          <p:nvPr/>
        </p:nvSpPr>
        <p:spPr>
          <a:xfrm>
            <a:off x="9628632" y="2569464"/>
            <a:ext cx="2103120" cy="914400"/>
          </a:xfrm>
          <a:prstGeom prst="rect">
            <a:avLst/>
          </a:prstGeom>
          <a:noFill/>
          <a:ln/>
        </p:spPr>
        <p:txBody>
          <a:bodyPr wrap="square" rtlCol="0" anchor="ctr"/>
          <a:lstStyle/>
          <a:p>
            <a:pPr indent="0" marL="0">
              <a:lnSpc>
                <a:spcPct val="110000"/>
              </a:lnSpc>
              <a:buNone/>
            </a:pPr>
            <a:r>
              <a:rPr lang="en-US" sz="1150" dirty="0">
                <a:solidFill>
                  <a:srgbClr val="5C6B5A"/>
                </a:solidFill>
                <a:latin typeface="Calibri" pitchFamily="34" charset="0"/>
                <a:ea typeface="Calibri" pitchFamily="34" charset="-122"/>
                <a:cs typeface="Calibri" pitchFamily="34" charset="-120"/>
              </a:rPr>
              <a:t>Cashback now + deductible buys grow next year’s refund</a:t>
            </a:r>
            <a:endParaRPr lang="en-US" sz="1150" dirty="0"/>
          </a:p>
        </p:txBody>
      </p:sp>
      <p:sp>
        <p:nvSpPr>
          <p:cNvPr id="26" name="Shape 23"/>
          <p:cNvSpPr/>
          <p:nvPr/>
        </p:nvSpPr>
        <p:spPr>
          <a:xfrm>
            <a:off x="3691128" y="4160520"/>
            <a:ext cx="8223504" cy="585216"/>
          </a:xfrm>
          <a:prstGeom prst="roundRect">
            <a:avLst>
              <a:gd name="adj" fmla="val 18750"/>
            </a:avLst>
          </a:prstGeom>
          <a:solidFill>
            <a:srgbClr val="1C5228"/>
          </a:solidFill>
          <a:ln w="15875">
            <a:solidFill>
              <a:srgbClr val="86C440"/>
            </a:solidFill>
            <a:prstDash val="solid"/>
          </a:ln>
        </p:spPr>
      </p:sp>
      <p:sp>
        <p:nvSpPr>
          <p:cNvPr id="27" name="Shape 24"/>
          <p:cNvSpPr/>
          <p:nvPr/>
        </p:nvSpPr>
        <p:spPr>
          <a:xfrm>
            <a:off x="3855720" y="4315968"/>
            <a:ext cx="402336" cy="274320"/>
          </a:xfrm>
          <a:prstGeom prst="leftArrow">
            <a:avLst/>
          </a:prstGeom>
          <a:solidFill>
            <a:srgbClr val="86C440"/>
          </a:solidFill>
          <a:ln/>
        </p:spPr>
      </p:sp>
      <p:sp>
        <p:nvSpPr>
          <p:cNvPr id="28" name="Text 25"/>
          <p:cNvSpPr txBox="1"/>
          <p:nvPr/>
        </p:nvSpPr>
        <p:spPr>
          <a:xfrm>
            <a:off x="4376928" y="4215384"/>
            <a:ext cx="7217664" cy="457200"/>
          </a:xfrm>
          <a:prstGeom prst="rect">
            <a:avLst/>
          </a:prstGeom>
          <a:noFill/>
          <a:ln/>
        </p:spPr>
        <p:txBody>
          <a:bodyPr wrap="square" rtlCol="0" anchor="ctr"/>
          <a:lstStyle/>
          <a:p>
            <a:pPr algn="ctr" indent="0" marL="0">
              <a:buNone/>
            </a:pPr>
            <a:r>
              <a:rPr lang="en-US" sz="1400" b="1" dirty="0">
                <a:solidFill>
                  <a:srgbClr val="86C440"/>
                </a:solidFill>
                <a:latin typeface="Calibri" pitchFamily="34" charset="0"/>
                <a:ea typeface="Calibri" pitchFamily="34" charset="-122"/>
                <a:cs typeface="Calibri" pitchFamily="34" charset="-120"/>
              </a:rPr>
              <a:t>Spend again — every single day</a:t>
            </a:r>
            <a:endParaRPr lang="en-US" sz="1400" dirty="0"/>
          </a:p>
        </p:txBody>
      </p:sp>
      <p:sp>
        <p:nvSpPr>
          <p:cNvPr id="29" name="Shape 26"/>
          <p:cNvSpPr/>
          <p:nvPr/>
        </p:nvSpPr>
        <p:spPr>
          <a:xfrm>
            <a:off x="822960" y="5074920"/>
            <a:ext cx="10543032" cy="1097280"/>
          </a:xfrm>
          <a:prstGeom prst="roundRect">
            <a:avLst>
              <a:gd name="adj" fmla="val 8333"/>
            </a:avLst>
          </a:prstGeom>
          <a:solidFill>
            <a:srgbClr val="10361A"/>
          </a:solidFill>
          <a:ln w="12700">
            <a:solidFill>
              <a:srgbClr val="2E5B39"/>
            </a:solidFill>
            <a:prstDash val="solid"/>
          </a:ln>
        </p:spPr>
      </p:sp>
      <p:sp>
        <p:nvSpPr>
          <p:cNvPr id="30" name="Shape 27"/>
          <p:cNvSpPr/>
          <p:nvPr/>
        </p:nvSpPr>
        <p:spPr>
          <a:xfrm>
            <a:off x="1097280" y="5349240"/>
            <a:ext cx="548640" cy="548640"/>
          </a:xfrm>
          <a:prstGeom prst="ellipse">
            <a:avLst/>
          </a:prstGeom>
          <a:solidFill>
            <a:srgbClr val="86C440"/>
          </a:solidFill>
          <a:ln/>
        </p:spPr>
      </p:sp>
      <p:pic>
        <p:nvPicPr>
          <p:cNvPr id="31" name="Image 1" descr="preencoded.png">    </p:cNvPr>
          <p:cNvPicPr>
            <a:picLocks noChangeAspect="1"/>
          </p:cNvPicPr>
          <p:nvPr/>
        </p:nvPicPr>
        <p:blipFill>
          <a:blip r:embed="rId2"/>
          <a:stretch>
            <a:fillRect/>
          </a:stretch>
        </p:blipFill>
        <p:spPr>
          <a:xfrm>
            <a:off x="1234440" y="5486400"/>
            <a:ext cx="274320" cy="274320"/>
          </a:xfrm>
          <a:prstGeom prst="rect">
            <a:avLst/>
          </a:prstGeom>
        </p:spPr>
      </p:pic>
      <p:sp>
        <p:nvSpPr>
          <p:cNvPr id="32" name="Text 28"/>
          <p:cNvSpPr txBox="1"/>
          <p:nvPr/>
        </p:nvSpPr>
        <p:spPr>
          <a:xfrm>
            <a:off x="1828800" y="5285232"/>
            <a:ext cx="29260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Pattern detected</a:t>
            </a:r>
            <a:endParaRPr lang="en-US" sz="1400" dirty="0"/>
          </a:p>
        </p:txBody>
      </p:sp>
      <p:sp>
        <p:nvSpPr>
          <p:cNvPr id="33" name="Text 29"/>
          <p:cNvSpPr txBox="1"/>
          <p:nvPr/>
        </p:nvSpPr>
        <p:spPr>
          <a:xfrm>
            <a:off x="1828800" y="5596128"/>
            <a:ext cx="9326880" cy="502920"/>
          </a:xfrm>
          <a:prstGeom prst="rect">
            <a:avLst/>
          </a:prstGeom>
          <a:noFill/>
          <a:ln/>
        </p:spPr>
        <p:txBody>
          <a:bodyPr wrap="square" rtlCol="0" anchor="ctr"/>
          <a:lstStyle/>
          <a:p>
            <a:pPr indent="0" marL="0">
              <a:lnSpc>
                <a:spcPct val="105000"/>
              </a:lnSpc>
              <a:buNone/>
            </a:pPr>
            <a:r>
              <a:rPr lang="en-US" sz="1250" dirty="0">
                <a:solidFill>
                  <a:srgbClr val="C7D6BE"/>
                </a:solidFill>
                <a:latin typeface="Calibri" pitchFamily="34" charset="0"/>
                <a:ea typeface="Calibri" pitchFamily="34" charset="-122"/>
                <a:cs typeface="Calibri" pitchFamily="34" charset="-120"/>
              </a:rPr>
              <a:t>Auto-tagging occasionally spots a life event or surfaces a tax-smart deal — a bonus on top of the loop, never the core work.</a:t>
            </a:r>
            <a:endParaRPr lang="en-US" sz="1250" dirty="0"/>
          </a:p>
        </p:txBody>
      </p:sp>
      <p:sp>
        <p:nvSpPr>
          <p:cNvPr id="34" name="Text 30"/>
          <p:cNvSpPr txBox="1"/>
          <p:nvPr/>
        </p:nvSpPr>
        <p:spPr>
          <a:xfrm>
            <a:off x="11430000" y="6355080"/>
            <a:ext cx="548640" cy="274320"/>
          </a:xfrm>
          <a:prstGeom prst="rect">
            <a:avLst/>
          </a:prstGeom>
          <a:noFill/>
          <a:ln/>
        </p:spPr>
        <p:txBody>
          <a:bodyPr wrap="square" rtlCol="0" anchor="ctr"/>
          <a:lstStyle/>
          <a:p>
            <a:pPr algn="r" indent="0" marL="0">
              <a:buNone/>
            </a:pPr>
            <a:r>
              <a:rPr lang="en-US" sz="1000" dirty="0">
                <a:solidFill>
                  <a:srgbClr val="A9C09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FE9"/>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86C440"/>
          </a:solidFill>
          <a:ln/>
        </p:spPr>
      </p:sp>
      <p:pic>
        <p:nvPicPr>
          <p:cNvPr id="3" name="Image 0" descr="preencoded.png">    </p:cNvPr>
          <p:cNvPicPr>
            <a:picLocks noChangeAspect="1"/>
          </p:cNvPicPr>
          <p:nvPr/>
        </p:nvPicPr>
        <p:blipFill>
          <a:blip r:embed="rId1"/>
          <a:stretch>
            <a:fillRect/>
          </a:stretch>
        </p:blipFill>
        <p:spPr>
          <a:xfrm>
            <a:off x="690372" y="644652"/>
            <a:ext cx="283464" cy="283464"/>
          </a:xfrm>
          <a:prstGeom prst="rect">
            <a:avLst/>
          </a:prstGeom>
        </p:spPr>
      </p:pic>
      <p:sp>
        <p:nvSpPr>
          <p:cNvPr id="4" name="Text 1"/>
          <p:cNvSpPr txBox="1"/>
          <p:nvPr/>
        </p:nvSpPr>
        <p:spPr>
          <a:xfrm>
            <a:off x="1280160" y="457200"/>
            <a:ext cx="9144000" cy="274320"/>
          </a:xfrm>
          <a:prstGeom prst="rect">
            <a:avLst/>
          </a:prstGeom>
          <a:noFill/>
          <a:ln/>
        </p:spPr>
        <p:txBody>
          <a:bodyPr wrap="square" rtlCol="0" anchor="ctr"/>
          <a:lstStyle/>
          <a:p>
            <a:pPr indent="0" marL="0">
              <a:buNone/>
            </a:pPr>
            <a:r>
              <a:rPr lang="en-US" sz="1200" b="1" spc="200" kern="0" dirty="0">
                <a:solidFill>
                  <a:srgbClr val="86C440"/>
                </a:solidFill>
                <a:latin typeface="Calibri" pitchFamily="34" charset="0"/>
                <a:ea typeface="Calibri" pitchFamily="34" charset="-122"/>
                <a:cs typeface="Calibri" pitchFamily="34" charset="-120"/>
              </a:rPr>
              <a:t>THE PRODUCT</a:t>
            </a:r>
            <a:endParaRPr lang="en-US" sz="1200" dirty="0"/>
          </a:p>
        </p:txBody>
      </p:sp>
      <p:sp>
        <p:nvSpPr>
          <p:cNvPr id="5" name="Text 2"/>
          <p:cNvSpPr txBox="1"/>
          <p:nvPr/>
        </p:nvSpPr>
        <p:spPr>
          <a:xfrm>
            <a:off x="1280160" y="694944"/>
            <a:ext cx="10241280" cy="640080"/>
          </a:xfrm>
          <a:prstGeom prst="rect">
            <a:avLst/>
          </a:prstGeom>
          <a:noFill/>
          <a:ln/>
        </p:spPr>
        <p:txBody>
          <a:bodyPr wrap="square" rtlCol="0" anchor="ctr"/>
          <a:lstStyle/>
          <a:p>
            <a:pPr indent="0" marL="0">
              <a:buNone/>
            </a:pPr>
            <a:r>
              <a:rPr lang="en-US" sz="3000" b="1" dirty="0">
                <a:solidFill>
                  <a:srgbClr val="14401F"/>
                </a:solidFill>
                <a:latin typeface="Calibri" pitchFamily="34" charset="0"/>
                <a:ea typeface="Calibri" pitchFamily="34" charset="-122"/>
                <a:cs typeface="Calibri" pitchFamily="34" charset="-120"/>
              </a:rPr>
              <a:t>One app, four screens</a:t>
            </a:r>
            <a:endParaRPr lang="en-US" sz="3000" dirty="0"/>
          </a:p>
        </p:txBody>
      </p:sp>
      <p:sp>
        <p:nvSpPr>
          <p:cNvPr id="6" name="Shape 3"/>
          <p:cNvSpPr/>
          <p:nvPr/>
        </p:nvSpPr>
        <p:spPr>
          <a:xfrm>
            <a:off x="822960" y="1874520"/>
            <a:ext cx="2606040" cy="3977640"/>
          </a:xfrm>
          <a:prstGeom prst="roundRect">
            <a:avLst>
              <a:gd name="adj" fmla="val 4211"/>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7" name="Shape 4"/>
          <p:cNvSpPr/>
          <p:nvPr/>
        </p:nvSpPr>
        <p:spPr>
          <a:xfrm>
            <a:off x="1623060" y="2286000"/>
            <a:ext cx="1005840" cy="1005840"/>
          </a:xfrm>
          <a:prstGeom prst="ellipse">
            <a:avLst/>
          </a:prstGeom>
          <a:solidFill>
            <a:srgbClr val="86C440"/>
          </a:solidFill>
          <a:ln/>
        </p:spPr>
      </p:sp>
      <p:pic>
        <p:nvPicPr>
          <p:cNvPr id="8" name="Image 1" descr="preencoded.png">    </p:cNvPr>
          <p:cNvPicPr>
            <a:picLocks noChangeAspect="1"/>
          </p:cNvPicPr>
          <p:nvPr/>
        </p:nvPicPr>
        <p:blipFill>
          <a:blip r:embed="rId2"/>
          <a:stretch>
            <a:fillRect/>
          </a:stretch>
        </p:blipFill>
        <p:spPr>
          <a:xfrm>
            <a:off x="1879092" y="2542032"/>
            <a:ext cx="493776" cy="493776"/>
          </a:xfrm>
          <a:prstGeom prst="rect">
            <a:avLst/>
          </a:prstGeom>
        </p:spPr>
      </p:pic>
      <p:sp>
        <p:nvSpPr>
          <p:cNvPr id="9" name="Text 5"/>
          <p:cNvSpPr txBox="1"/>
          <p:nvPr/>
        </p:nvSpPr>
        <p:spPr>
          <a:xfrm>
            <a:off x="822960" y="3474720"/>
            <a:ext cx="2606040" cy="411480"/>
          </a:xfrm>
          <a:prstGeom prst="rect">
            <a:avLst/>
          </a:prstGeom>
          <a:noFill/>
          <a:ln/>
        </p:spPr>
        <p:txBody>
          <a:bodyPr wrap="square" rtlCol="0" anchor="ctr"/>
          <a:lstStyle/>
          <a:p>
            <a:pPr algn="ctr" indent="0" marL="0">
              <a:buNone/>
            </a:pPr>
            <a:r>
              <a:rPr lang="en-US" sz="2000" b="1" dirty="0">
                <a:solidFill>
                  <a:srgbClr val="14401F"/>
                </a:solidFill>
                <a:latin typeface="Calibri" pitchFamily="34" charset="0"/>
                <a:ea typeface="Calibri" pitchFamily="34" charset="-122"/>
                <a:cs typeface="Calibri" pitchFamily="34" charset="-120"/>
              </a:rPr>
              <a:t>Home</a:t>
            </a:r>
            <a:endParaRPr lang="en-US" sz="2000" dirty="0"/>
          </a:p>
        </p:txBody>
      </p:sp>
      <p:sp>
        <p:nvSpPr>
          <p:cNvPr id="10" name="Text 6"/>
          <p:cNvSpPr txBox="1"/>
          <p:nvPr/>
        </p:nvSpPr>
        <p:spPr>
          <a:xfrm>
            <a:off x="1115568" y="3977640"/>
            <a:ext cx="2020824" cy="1737360"/>
          </a:xfrm>
          <a:prstGeom prst="rect">
            <a:avLst/>
          </a:prstGeom>
          <a:noFill/>
          <a:ln/>
        </p:spPr>
        <p:txBody>
          <a:bodyPr wrap="square" rtlCol="0" anchor="ctr"/>
          <a:lstStyle/>
          <a:p>
            <a:pPr algn="ctr" indent="0" marL="0">
              <a:lnSpc>
                <a:spcPct val="118000"/>
              </a:lnSpc>
              <a:buNone/>
            </a:pPr>
            <a:r>
              <a:rPr lang="en-US" sz="1250" dirty="0">
                <a:solidFill>
                  <a:srgbClr val="5C6B5A"/>
                </a:solidFill>
                <a:latin typeface="Calibri" pitchFamily="34" charset="0"/>
                <a:ea typeface="Calibri" pitchFamily="34" charset="-122"/>
                <a:cs typeface="Calibri" pitchFamily="34" charset="-120"/>
              </a:rPr>
              <a:t>Two hero numbers — spendable now + next year’s refund — plus cashback, recent auto-tagged transactions, and a next-best action.</a:t>
            </a:r>
            <a:endParaRPr lang="en-US" sz="1250" dirty="0"/>
          </a:p>
        </p:txBody>
      </p:sp>
      <p:sp>
        <p:nvSpPr>
          <p:cNvPr id="11" name="Shape 7"/>
          <p:cNvSpPr/>
          <p:nvPr/>
        </p:nvSpPr>
        <p:spPr>
          <a:xfrm>
            <a:off x="3651504" y="1874520"/>
            <a:ext cx="2606040" cy="3977640"/>
          </a:xfrm>
          <a:prstGeom prst="roundRect">
            <a:avLst>
              <a:gd name="adj" fmla="val 4211"/>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12" name="Shape 8"/>
          <p:cNvSpPr/>
          <p:nvPr/>
        </p:nvSpPr>
        <p:spPr>
          <a:xfrm>
            <a:off x="4451604" y="2286000"/>
            <a:ext cx="1005840" cy="1005840"/>
          </a:xfrm>
          <a:prstGeom prst="ellipse">
            <a:avLst/>
          </a:prstGeom>
          <a:solidFill>
            <a:srgbClr val="86C440"/>
          </a:solidFill>
          <a:ln/>
        </p:spPr>
      </p:sp>
      <p:pic>
        <p:nvPicPr>
          <p:cNvPr id="13" name="Image 2" descr="preencoded.png">    </p:cNvPr>
          <p:cNvPicPr>
            <a:picLocks noChangeAspect="1"/>
          </p:cNvPicPr>
          <p:nvPr/>
        </p:nvPicPr>
        <p:blipFill>
          <a:blip r:embed="rId3"/>
          <a:stretch>
            <a:fillRect/>
          </a:stretch>
        </p:blipFill>
        <p:spPr>
          <a:xfrm>
            <a:off x="4707636" y="2542032"/>
            <a:ext cx="493776" cy="493776"/>
          </a:xfrm>
          <a:prstGeom prst="rect">
            <a:avLst/>
          </a:prstGeom>
        </p:spPr>
      </p:pic>
      <p:sp>
        <p:nvSpPr>
          <p:cNvPr id="14" name="Text 9"/>
          <p:cNvSpPr txBox="1"/>
          <p:nvPr/>
        </p:nvSpPr>
        <p:spPr>
          <a:xfrm>
            <a:off x="3651504" y="3474720"/>
            <a:ext cx="2606040" cy="411480"/>
          </a:xfrm>
          <a:prstGeom prst="rect">
            <a:avLst/>
          </a:prstGeom>
          <a:noFill/>
          <a:ln/>
        </p:spPr>
        <p:txBody>
          <a:bodyPr wrap="square" rtlCol="0" anchor="ctr"/>
          <a:lstStyle/>
          <a:p>
            <a:pPr algn="ctr" indent="0" marL="0">
              <a:buNone/>
            </a:pPr>
            <a:r>
              <a:rPr lang="en-US" sz="2000" b="1" dirty="0">
                <a:solidFill>
                  <a:srgbClr val="14401F"/>
                </a:solidFill>
                <a:latin typeface="Calibri" pitchFamily="34" charset="0"/>
                <a:ea typeface="Calibri" pitchFamily="34" charset="-122"/>
                <a:cs typeface="Calibri" pitchFamily="34" charset="-120"/>
              </a:rPr>
              <a:t>Spend</a:t>
            </a:r>
            <a:endParaRPr lang="en-US" sz="2000" dirty="0"/>
          </a:p>
        </p:txBody>
      </p:sp>
      <p:sp>
        <p:nvSpPr>
          <p:cNvPr id="15" name="Text 10"/>
          <p:cNvSpPr txBox="1"/>
          <p:nvPr/>
        </p:nvSpPr>
        <p:spPr>
          <a:xfrm>
            <a:off x="3944112" y="3977640"/>
            <a:ext cx="2020824" cy="1737360"/>
          </a:xfrm>
          <a:prstGeom prst="rect">
            <a:avLst/>
          </a:prstGeom>
          <a:noFill/>
          <a:ln/>
        </p:spPr>
        <p:txBody>
          <a:bodyPr wrap="square" rtlCol="0" anchor="ctr"/>
          <a:lstStyle/>
          <a:p>
            <a:pPr algn="ctr" indent="0" marL="0">
              <a:lnSpc>
                <a:spcPct val="118000"/>
              </a:lnSpc>
              <a:buNone/>
            </a:pPr>
            <a:r>
              <a:rPr lang="en-US" sz="1250" dirty="0">
                <a:solidFill>
                  <a:srgbClr val="5C6B5A"/>
                </a:solidFill>
                <a:latin typeface="Calibri" pitchFamily="34" charset="0"/>
                <a:ea typeface="Calibri" pitchFamily="34" charset="-122"/>
                <a:cs typeface="Calibri" pitchFamily="34" charset="-120"/>
              </a:rPr>
              <a:t>Virtual card + a merchant tray. Paying deducts balance, earns cashback, and animates a tax tag: “+€12 to your 2026 refund.”</a:t>
            </a:r>
            <a:endParaRPr lang="en-US" sz="1250" dirty="0"/>
          </a:p>
        </p:txBody>
      </p:sp>
      <p:sp>
        <p:nvSpPr>
          <p:cNvPr id="16" name="Shape 11"/>
          <p:cNvSpPr/>
          <p:nvPr/>
        </p:nvSpPr>
        <p:spPr>
          <a:xfrm>
            <a:off x="6480048" y="1874520"/>
            <a:ext cx="2606040" cy="3977640"/>
          </a:xfrm>
          <a:prstGeom prst="roundRect">
            <a:avLst>
              <a:gd name="adj" fmla="val 4211"/>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17" name="Shape 12"/>
          <p:cNvSpPr/>
          <p:nvPr/>
        </p:nvSpPr>
        <p:spPr>
          <a:xfrm>
            <a:off x="7280148" y="2286000"/>
            <a:ext cx="1005840" cy="1005840"/>
          </a:xfrm>
          <a:prstGeom prst="ellipse">
            <a:avLst/>
          </a:prstGeom>
          <a:solidFill>
            <a:srgbClr val="86C440"/>
          </a:solidFill>
          <a:ln/>
        </p:spPr>
      </p:sp>
      <p:pic>
        <p:nvPicPr>
          <p:cNvPr id="18" name="Image 3" descr="preencoded.png">    </p:cNvPr>
          <p:cNvPicPr>
            <a:picLocks noChangeAspect="1"/>
          </p:cNvPicPr>
          <p:nvPr/>
        </p:nvPicPr>
        <p:blipFill>
          <a:blip r:embed="rId4"/>
          <a:stretch>
            <a:fillRect/>
          </a:stretch>
        </p:blipFill>
        <p:spPr>
          <a:xfrm>
            <a:off x="7536180" y="2542032"/>
            <a:ext cx="493776" cy="493776"/>
          </a:xfrm>
          <a:prstGeom prst="rect">
            <a:avLst/>
          </a:prstGeom>
        </p:spPr>
      </p:pic>
      <p:sp>
        <p:nvSpPr>
          <p:cNvPr id="19" name="Text 13"/>
          <p:cNvSpPr txBox="1"/>
          <p:nvPr/>
        </p:nvSpPr>
        <p:spPr>
          <a:xfrm>
            <a:off x="6480048" y="3474720"/>
            <a:ext cx="2606040" cy="411480"/>
          </a:xfrm>
          <a:prstGeom prst="rect">
            <a:avLst/>
          </a:prstGeom>
          <a:noFill/>
          <a:ln/>
        </p:spPr>
        <p:txBody>
          <a:bodyPr wrap="square" rtlCol="0" anchor="ctr"/>
          <a:lstStyle/>
          <a:p>
            <a:pPr algn="ctr" indent="0" marL="0">
              <a:buNone/>
            </a:pPr>
            <a:r>
              <a:rPr lang="en-US" sz="2000" b="1" dirty="0">
                <a:solidFill>
                  <a:srgbClr val="14401F"/>
                </a:solidFill>
                <a:latin typeface="Calibri" pitchFamily="34" charset="0"/>
                <a:ea typeface="Calibri" pitchFamily="34" charset="-122"/>
                <a:cs typeface="Calibri" pitchFamily="34" charset="-120"/>
              </a:rPr>
              <a:t>Refund</a:t>
            </a:r>
            <a:endParaRPr lang="en-US" sz="2000" dirty="0"/>
          </a:p>
        </p:txBody>
      </p:sp>
      <p:sp>
        <p:nvSpPr>
          <p:cNvPr id="20" name="Text 14"/>
          <p:cNvSpPr txBox="1"/>
          <p:nvPr/>
        </p:nvSpPr>
        <p:spPr>
          <a:xfrm>
            <a:off x="6772656" y="3977640"/>
            <a:ext cx="2020824" cy="1737360"/>
          </a:xfrm>
          <a:prstGeom prst="rect">
            <a:avLst/>
          </a:prstGeom>
          <a:noFill/>
          <a:ln/>
        </p:spPr>
        <p:txBody>
          <a:bodyPr wrap="square" rtlCol="0" anchor="ctr"/>
          <a:lstStyle/>
          <a:p>
            <a:pPr algn="ctr" indent="0" marL="0">
              <a:lnSpc>
                <a:spcPct val="118000"/>
              </a:lnSpc>
              <a:buNone/>
            </a:pPr>
            <a:r>
              <a:rPr lang="en-US" sz="1250" dirty="0">
                <a:solidFill>
                  <a:srgbClr val="5C6B5A"/>
                </a:solidFill>
                <a:latin typeface="Calibri" pitchFamily="34" charset="0"/>
                <a:ea typeface="Calibri" pitchFamily="34" charset="-122"/>
                <a:cs typeface="Calibri" pitchFamily="34" charset="-120"/>
              </a:rPr>
              <a:t>Deductible spend stacking toward next year via a progress ring, plus detected life events waiting on a one-tap confirm.</a:t>
            </a:r>
            <a:endParaRPr lang="en-US" sz="1250" dirty="0"/>
          </a:p>
        </p:txBody>
      </p:sp>
      <p:sp>
        <p:nvSpPr>
          <p:cNvPr id="21" name="Shape 15"/>
          <p:cNvSpPr/>
          <p:nvPr/>
        </p:nvSpPr>
        <p:spPr>
          <a:xfrm>
            <a:off x="9308592" y="1874520"/>
            <a:ext cx="2606040" cy="3977640"/>
          </a:xfrm>
          <a:prstGeom prst="roundRect">
            <a:avLst>
              <a:gd name="adj" fmla="val 4211"/>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22" name="Shape 16"/>
          <p:cNvSpPr/>
          <p:nvPr/>
        </p:nvSpPr>
        <p:spPr>
          <a:xfrm>
            <a:off x="10108692" y="2286000"/>
            <a:ext cx="1005840" cy="1005840"/>
          </a:xfrm>
          <a:prstGeom prst="ellipse">
            <a:avLst/>
          </a:prstGeom>
          <a:solidFill>
            <a:srgbClr val="86C440"/>
          </a:solidFill>
          <a:ln/>
        </p:spPr>
      </p:sp>
      <p:pic>
        <p:nvPicPr>
          <p:cNvPr id="23" name="Image 4" descr="preencoded.png">    </p:cNvPr>
          <p:cNvPicPr>
            <a:picLocks noChangeAspect="1"/>
          </p:cNvPicPr>
          <p:nvPr/>
        </p:nvPicPr>
        <p:blipFill>
          <a:blip r:embed="rId5"/>
          <a:stretch>
            <a:fillRect/>
          </a:stretch>
        </p:blipFill>
        <p:spPr>
          <a:xfrm>
            <a:off x="10364724" y="2542032"/>
            <a:ext cx="493776" cy="493776"/>
          </a:xfrm>
          <a:prstGeom prst="rect">
            <a:avLst/>
          </a:prstGeom>
        </p:spPr>
      </p:pic>
      <p:sp>
        <p:nvSpPr>
          <p:cNvPr id="24" name="Text 17"/>
          <p:cNvSpPr txBox="1"/>
          <p:nvPr/>
        </p:nvSpPr>
        <p:spPr>
          <a:xfrm>
            <a:off x="9308592" y="3474720"/>
            <a:ext cx="2606040" cy="411480"/>
          </a:xfrm>
          <a:prstGeom prst="rect">
            <a:avLst/>
          </a:prstGeom>
          <a:noFill/>
          <a:ln/>
        </p:spPr>
        <p:txBody>
          <a:bodyPr wrap="square" rtlCol="0" anchor="ctr"/>
          <a:lstStyle/>
          <a:p>
            <a:pPr algn="ctr" indent="0" marL="0">
              <a:buNone/>
            </a:pPr>
            <a:r>
              <a:rPr lang="en-US" sz="2000" b="1" dirty="0">
                <a:solidFill>
                  <a:srgbClr val="14401F"/>
                </a:solidFill>
                <a:latin typeface="Calibri" pitchFamily="34" charset="0"/>
                <a:ea typeface="Calibri" pitchFamily="34" charset="-122"/>
                <a:cs typeface="Calibri" pitchFamily="34" charset="-120"/>
              </a:rPr>
              <a:t>Coach</a:t>
            </a:r>
            <a:endParaRPr lang="en-US" sz="2000" dirty="0"/>
          </a:p>
        </p:txBody>
      </p:sp>
      <p:sp>
        <p:nvSpPr>
          <p:cNvPr id="25" name="Text 18"/>
          <p:cNvSpPr txBox="1"/>
          <p:nvPr/>
        </p:nvSpPr>
        <p:spPr>
          <a:xfrm>
            <a:off x="9601200" y="3977640"/>
            <a:ext cx="2020824" cy="1737360"/>
          </a:xfrm>
          <a:prstGeom prst="rect">
            <a:avLst/>
          </a:prstGeom>
          <a:noFill/>
          <a:ln/>
        </p:spPr>
        <p:txBody>
          <a:bodyPr wrap="square" rtlCol="0" anchor="ctr"/>
          <a:lstStyle/>
          <a:p>
            <a:pPr algn="ctr" indent="0" marL="0">
              <a:lnSpc>
                <a:spcPct val="118000"/>
              </a:lnSpc>
              <a:buNone/>
            </a:pPr>
            <a:r>
              <a:rPr lang="en-US" sz="1250" dirty="0">
                <a:solidFill>
                  <a:srgbClr val="5C6B5A"/>
                </a:solidFill>
                <a:latin typeface="Calibri" pitchFamily="34" charset="0"/>
                <a:ea typeface="Calibri" pitchFamily="34" charset="-122"/>
                <a:cs typeface="Calibri" pitchFamily="34" charset="-120"/>
              </a:rPr>
              <a:t>Tax-smart deals personalized from spending — e.g. a long commute surfaces a deductible car lease — plus plain-language tips.</a:t>
            </a:r>
            <a:endParaRPr lang="en-US" sz="1250" dirty="0"/>
          </a:p>
        </p:txBody>
      </p:sp>
      <p:sp>
        <p:nvSpPr>
          <p:cNvPr id="26" name="Text 19"/>
          <p:cNvSpPr txBox="1"/>
          <p:nvPr/>
        </p:nvSpPr>
        <p:spPr>
          <a:xfrm>
            <a:off x="11430000" y="6355080"/>
            <a:ext cx="548640" cy="274320"/>
          </a:xfrm>
          <a:prstGeom prst="rect">
            <a:avLst/>
          </a:prstGeom>
          <a:noFill/>
          <a:ln/>
        </p:spPr>
        <p:txBody>
          <a:bodyPr wrap="square" rtlCol="0" anchor="ctr"/>
          <a:lstStyle/>
          <a:p>
            <a:pPr algn="r" indent="0" marL="0">
              <a:buNone/>
            </a:pPr>
            <a:r>
              <a:rPr lang="en-US" sz="1000" dirty="0">
                <a:solidFill>
                  <a:srgbClr val="5C6B5A"/>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FE9"/>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86C440"/>
          </a:solidFill>
          <a:ln/>
        </p:spPr>
      </p:sp>
      <p:pic>
        <p:nvPicPr>
          <p:cNvPr id="3" name="Image 0" descr="preencoded.png">    </p:cNvPr>
          <p:cNvPicPr>
            <a:picLocks noChangeAspect="1"/>
          </p:cNvPicPr>
          <p:nvPr/>
        </p:nvPicPr>
        <p:blipFill>
          <a:blip r:embed="rId1"/>
          <a:stretch>
            <a:fillRect/>
          </a:stretch>
        </p:blipFill>
        <p:spPr>
          <a:xfrm>
            <a:off x="690372" y="644652"/>
            <a:ext cx="283464" cy="283464"/>
          </a:xfrm>
          <a:prstGeom prst="rect">
            <a:avLst/>
          </a:prstGeom>
        </p:spPr>
      </p:pic>
      <p:sp>
        <p:nvSpPr>
          <p:cNvPr id="4" name="Text 1"/>
          <p:cNvSpPr txBox="1"/>
          <p:nvPr/>
        </p:nvSpPr>
        <p:spPr>
          <a:xfrm>
            <a:off x="1280160" y="457200"/>
            <a:ext cx="9144000" cy="274320"/>
          </a:xfrm>
          <a:prstGeom prst="rect">
            <a:avLst/>
          </a:prstGeom>
          <a:noFill/>
          <a:ln/>
        </p:spPr>
        <p:txBody>
          <a:bodyPr wrap="square" rtlCol="0" anchor="ctr"/>
          <a:lstStyle/>
          <a:p>
            <a:pPr indent="0" marL="0">
              <a:buNone/>
            </a:pPr>
            <a:r>
              <a:rPr lang="en-US" sz="1200" b="1" spc="200" kern="0" dirty="0">
                <a:solidFill>
                  <a:srgbClr val="86C440"/>
                </a:solidFill>
                <a:latin typeface="Calibri" pitchFamily="34" charset="0"/>
                <a:ea typeface="Calibri" pitchFamily="34" charset="-122"/>
                <a:cs typeface="Calibri" pitchFamily="34" charset="-120"/>
              </a:rPr>
              <a:t>HOW IT FEELS</a:t>
            </a:r>
            <a:endParaRPr lang="en-US" sz="1200" dirty="0"/>
          </a:p>
        </p:txBody>
      </p:sp>
      <p:sp>
        <p:nvSpPr>
          <p:cNvPr id="5" name="Text 2"/>
          <p:cNvSpPr txBox="1"/>
          <p:nvPr/>
        </p:nvSpPr>
        <p:spPr>
          <a:xfrm>
            <a:off x="1280160" y="694944"/>
            <a:ext cx="10241280" cy="640080"/>
          </a:xfrm>
          <a:prstGeom prst="rect">
            <a:avLst/>
          </a:prstGeom>
          <a:noFill/>
          <a:ln/>
        </p:spPr>
        <p:txBody>
          <a:bodyPr wrap="square" rtlCol="0" anchor="ctr"/>
          <a:lstStyle/>
          <a:p>
            <a:pPr indent="0" marL="0">
              <a:buNone/>
            </a:pPr>
            <a:r>
              <a:rPr lang="en-US" sz="3000" b="1" dirty="0">
                <a:solidFill>
                  <a:srgbClr val="14401F"/>
                </a:solidFill>
                <a:latin typeface="Calibri" pitchFamily="34" charset="0"/>
                <a:ea typeface="Calibri" pitchFamily="34" charset="-122"/>
                <a:cs typeface="Calibri" pitchFamily="34" charset="-120"/>
              </a:rPr>
              <a:t>Spending is the engine — we do the tax work</a:t>
            </a:r>
            <a:endParaRPr lang="en-US" sz="3000" dirty="0"/>
          </a:p>
        </p:txBody>
      </p:sp>
      <p:sp>
        <p:nvSpPr>
          <p:cNvPr id="6" name="Shape 3"/>
          <p:cNvSpPr/>
          <p:nvPr/>
        </p:nvSpPr>
        <p:spPr>
          <a:xfrm>
            <a:off x="822960" y="1874520"/>
            <a:ext cx="6400800" cy="1298448"/>
          </a:xfrm>
          <a:prstGeom prst="roundRect">
            <a:avLst>
              <a:gd name="adj" fmla="val 7042"/>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7" name="Shape 4"/>
          <p:cNvSpPr/>
          <p:nvPr/>
        </p:nvSpPr>
        <p:spPr>
          <a:xfrm>
            <a:off x="1051560" y="2194560"/>
            <a:ext cx="658368" cy="658368"/>
          </a:xfrm>
          <a:prstGeom prst="ellipse">
            <a:avLst/>
          </a:prstGeom>
          <a:solidFill>
            <a:srgbClr val="ECF3E1"/>
          </a:solidFill>
          <a:ln/>
        </p:spPr>
      </p:sp>
      <p:pic>
        <p:nvPicPr>
          <p:cNvPr id="8" name="Image 1" descr="preencoded.png">    </p:cNvPr>
          <p:cNvPicPr>
            <a:picLocks noChangeAspect="1"/>
          </p:cNvPicPr>
          <p:nvPr/>
        </p:nvPicPr>
        <p:blipFill>
          <a:blip r:embed="rId2"/>
          <a:stretch>
            <a:fillRect/>
          </a:stretch>
        </p:blipFill>
        <p:spPr>
          <a:xfrm>
            <a:off x="1234440" y="2377440"/>
            <a:ext cx="292608" cy="292608"/>
          </a:xfrm>
          <a:prstGeom prst="rect">
            <a:avLst/>
          </a:prstGeom>
        </p:spPr>
      </p:pic>
      <p:sp>
        <p:nvSpPr>
          <p:cNvPr id="9" name="Text 5"/>
          <p:cNvSpPr txBox="1"/>
          <p:nvPr/>
        </p:nvSpPr>
        <p:spPr>
          <a:xfrm>
            <a:off x="1920240" y="2057400"/>
            <a:ext cx="5120640" cy="365760"/>
          </a:xfrm>
          <a:prstGeom prst="rect">
            <a:avLst/>
          </a:prstGeom>
          <a:noFill/>
          <a:ln/>
        </p:spPr>
        <p:txBody>
          <a:bodyPr wrap="square" rtlCol="0" anchor="ctr"/>
          <a:lstStyle/>
          <a:p>
            <a:pPr indent="0" marL="0">
              <a:buNone/>
            </a:pPr>
            <a:r>
              <a:rPr lang="en-US" sz="1600" b="1" dirty="0">
                <a:solidFill>
                  <a:srgbClr val="14401F"/>
                </a:solidFill>
                <a:latin typeface="Calibri" pitchFamily="34" charset="0"/>
                <a:ea typeface="Calibri" pitchFamily="34" charset="-122"/>
                <a:cs typeface="Calibri" pitchFamily="34" charset="-120"/>
              </a:rPr>
              <a:t>Auto-categorized</a:t>
            </a:r>
            <a:endParaRPr lang="en-US" sz="1600" dirty="0"/>
          </a:p>
        </p:txBody>
      </p:sp>
      <p:sp>
        <p:nvSpPr>
          <p:cNvPr id="10" name="Text 6"/>
          <p:cNvSpPr txBox="1"/>
          <p:nvPr/>
        </p:nvSpPr>
        <p:spPr>
          <a:xfrm>
            <a:off x="1920240" y="2423160"/>
            <a:ext cx="5166360" cy="685800"/>
          </a:xfrm>
          <a:prstGeom prst="rect">
            <a:avLst/>
          </a:prstGeom>
          <a:noFill/>
          <a:ln/>
        </p:spPr>
        <p:txBody>
          <a:bodyPr wrap="square" rtlCol="0" anchor="ctr"/>
          <a:lstStyle/>
          <a:p>
            <a:pPr indent="0" marL="0">
              <a:lnSpc>
                <a:spcPct val="112000"/>
              </a:lnSpc>
              <a:buNone/>
            </a:pPr>
            <a:r>
              <a:rPr lang="en-US" sz="1250" dirty="0">
                <a:solidFill>
                  <a:srgbClr val="5C6B5A"/>
                </a:solidFill>
                <a:latin typeface="Calibri" pitchFamily="34" charset="0"/>
                <a:ea typeface="Calibri" pitchFamily="34" charset="-122"/>
                <a:cs typeface="Calibri" pitchFamily="34" charset="-120"/>
              </a:rPr>
              <a:t>Every purchase is checked for tax relevance the moment you pay — no receipts, no manual logging.</a:t>
            </a:r>
            <a:endParaRPr lang="en-US" sz="1250" dirty="0"/>
          </a:p>
        </p:txBody>
      </p:sp>
      <p:sp>
        <p:nvSpPr>
          <p:cNvPr id="11" name="Shape 7"/>
          <p:cNvSpPr/>
          <p:nvPr/>
        </p:nvSpPr>
        <p:spPr>
          <a:xfrm>
            <a:off x="822960" y="3337560"/>
            <a:ext cx="6400800" cy="1298448"/>
          </a:xfrm>
          <a:prstGeom prst="roundRect">
            <a:avLst>
              <a:gd name="adj" fmla="val 7042"/>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12" name="Shape 8"/>
          <p:cNvSpPr/>
          <p:nvPr/>
        </p:nvSpPr>
        <p:spPr>
          <a:xfrm>
            <a:off x="1051560" y="3657600"/>
            <a:ext cx="658368" cy="658368"/>
          </a:xfrm>
          <a:prstGeom prst="ellipse">
            <a:avLst/>
          </a:prstGeom>
          <a:solidFill>
            <a:srgbClr val="ECF3E1"/>
          </a:solidFill>
          <a:ln/>
        </p:spPr>
      </p:sp>
      <p:pic>
        <p:nvPicPr>
          <p:cNvPr id="13" name="Image 2" descr="preencoded.png">    </p:cNvPr>
          <p:cNvPicPr>
            <a:picLocks noChangeAspect="1"/>
          </p:cNvPicPr>
          <p:nvPr/>
        </p:nvPicPr>
        <p:blipFill>
          <a:blip r:embed="rId3"/>
          <a:stretch>
            <a:fillRect/>
          </a:stretch>
        </p:blipFill>
        <p:spPr>
          <a:xfrm>
            <a:off x="1234440" y="3840480"/>
            <a:ext cx="292608" cy="292608"/>
          </a:xfrm>
          <a:prstGeom prst="rect">
            <a:avLst/>
          </a:prstGeom>
        </p:spPr>
      </p:pic>
      <p:sp>
        <p:nvSpPr>
          <p:cNvPr id="14" name="Text 9"/>
          <p:cNvSpPr txBox="1"/>
          <p:nvPr/>
        </p:nvSpPr>
        <p:spPr>
          <a:xfrm>
            <a:off x="1920240" y="3520440"/>
            <a:ext cx="5120640" cy="365760"/>
          </a:xfrm>
          <a:prstGeom prst="rect">
            <a:avLst/>
          </a:prstGeom>
          <a:noFill/>
          <a:ln/>
        </p:spPr>
        <p:txBody>
          <a:bodyPr wrap="square" rtlCol="0" anchor="ctr"/>
          <a:lstStyle/>
          <a:p>
            <a:pPr indent="0" marL="0">
              <a:buNone/>
            </a:pPr>
            <a:r>
              <a:rPr lang="en-US" sz="1600" b="1" dirty="0">
                <a:solidFill>
                  <a:srgbClr val="14401F"/>
                </a:solidFill>
                <a:latin typeface="Calibri" pitchFamily="34" charset="0"/>
                <a:ea typeface="Calibri" pitchFamily="34" charset="-122"/>
                <a:cs typeface="Calibri" pitchFamily="34" charset="-120"/>
              </a:rPr>
              <a:t>Quietly grows your refund</a:t>
            </a:r>
            <a:endParaRPr lang="en-US" sz="1600" dirty="0"/>
          </a:p>
        </p:txBody>
      </p:sp>
      <p:sp>
        <p:nvSpPr>
          <p:cNvPr id="15" name="Text 10"/>
          <p:cNvSpPr txBox="1"/>
          <p:nvPr/>
        </p:nvSpPr>
        <p:spPr>
          <a:xfrm>
            <a:off x="1920240" y="3886200"/>
            <a:ext cx="5166360" cy="685800"/>
          </a:xfrm>
          <a:prstGeom prst="rect">
            <a:avLst/>
          </a:prstGeom>
          <a:noFill/>
          <a:ln/>
        </p:spPr>
        <p:txBody>
          <a:bodyPr wrap="square" rtlCol="0" anchor="ctr"/>
          <a:lstStyle/>
          <a:p>
            <a:pPr indent="0" marL="0">
              <a:lnSpc>
                <a:spcPct val="112000"/>
              </a:lnSpc>
              <a:buNone/>
            </a:pPr>
            <a:r>
              <a:rPr lang="en-US" sz="1250" dirty="0">
                <a:solidFill>
                  <a:srgbClr val="5C6B5A"/>
                </a:solidFill>
                <a:latin typeface="Calibri" pitchFamily="34" charset="0"/>
                <a:ea typeface="Calibri" pitchFamily="34" charset="-122"/>
                <a:cs typeface="Calibri" pitchFamily="34" charset="-120"/>
              </a:rPr>
              <a:t>Deductible buys show a live “+€X to your 2026 refund” tag. That grocery run just earned you money.</a:t>
            </a:r>
            <a:endParaRPr lang="en-US" sz="1250" dirty="0"/>
          </a:p>
        </p:txBody>
      </p:sp>
      <p:sp>
        <p:nvSpPr>
          <p:cNvPr id="16" name="Shape 11"/>
          <p:cNvSpPr/>
          <p:nvPr/>
        </p:nvSpPr>
        <p:spPr>
          <a:xfrm>
            <a:off x="822960" y="4800600"/>
            <a:ext cx="6400800" cy="1298448"/>
          </a:xfrm>
          <a:prstGeom prst="roundRect">
            <a:avLst>
              <a:gd name="adj" fmla="val 7042"/>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17" name="Shape 12"/>
          <p:cNvSpPr/>
          <p:nvPr/>
        </p:nvSpPr>
        <p:spPr>
          <a:xfrm>
            <a:off x="1051560" y="5120640"/>
            <a:ext cx="658368" cy="658368"/>
          </a:xfrm>
          <a:prstGeom prst="ellipse">
            <a:avLst/>
          </a:prstGeom>
          <a:solidFill>
            <a:srgbClr val="ECF3E1"/>
          </a:solidFill>
          <a:ln/>
        </p:spPr>
      </p:sp>
      <p:pic>
        <p:nvPicPr>
          <p:cNvPr id="18" name="Image 3" descr="preencoded.png">    </p:cNvPr>
          <p:cNvPicPr>
            <a:picLocks noChangeAspect="1"/>
          </p:cNvPicPr>
          <p:nvPr/>
        </p:nvPicPr>
        <p:blipFill>
          <a:blip r:embed="rId4"/>
          <a:stretch>
            <a:fillRect/>
          </a:stretch>
        </p:blipFill>
        <p:spPr>
          <a:xfrm>
            <a:off x="1234440" y="5303520"/>
            <a:ext cx="292608" cy="292608"/>
          </a:xfrm>
          <a:prstGeom prst="rect">
            <a:avLst/>
          </a:prstGeom>
        </p:spPr>
      </p:pic>
      <p:sp>
        <p:nvSpPr>
          <p:cNvPr id="19" name="Text 13"/>
          <p:cNvSpPr txBox="1"/>
          <p:nvPr/>
        </p:nvSpPr>
        <p:spPr>
          <a:xfrm>
            <a:off x="1920240" y="4983480"/>
            <a:ext cx="5120640" cy="365760"/>
          </a:xfrm>
          <a:prstGeom prst="rect">
            <a:avLst/>
          </a:prstGeom>
          <a:noFill/>
          <a:ln/>
        </p:spPr>
        <p:txBody>
          <a:bodyPr wrap="square" rtlCol="0" anchor="ctr"/>
          <a:lstStyle/>
          <a:p>
            <a:pPr indent="0" marL="0">
              <a:buNone/>
            </a:pPr>
            <a:r>
              <a:rPr lang="en-US" sz="1600" b="1" dirty="0">
                <a:solidFill>
                  <a:srgbClr val="14401F"/>
                </a:solidFill>
                <a:latin typeface="Calibri" pitchFamily="34" charset="0"/>
                <a:ea typeface="Calibri" pitchFamily="34" charset="-122"/>
                <a:cs typeface="Calibri" pitchFamily="34" charset="-120"/>
              </a:rPr>
              <a:t>Life events inferred</a:t>
            </a:r>
            <a:endParaRPr lang="en-US" sz="1600" dirty="0"/>
          </a:p>
        </p:txBody>
      </p:sp>
      <p:sp>
        <p:nvSpPr>
          <p:cNvPr id="20" name="Text 14"/>
          <p:cNvSpPr txBox="1"/>
          <p:nvPr/>
        </p:nvSpPr>
        <p:spPr>
          <a:xfrm>
            <a:off x="1920240" y="5349240"/>
            <a:ext cx="5166360" cy="685800"/>
          </a:xfrm>
          <a:prstGeom prst="rect">
            <a:avLst/>
          </a:prstGeom>
          <a:noFill/>
          <a:ln/>
        </p:spPr>
        <p:txBody>
          <a:bodyPr wrap="square" rtlCol="0" anchor="ctr"/>
          <a:lstStyle/>
          <a:p>
            <a:pPr indent="0" marL="0">
              <a:lnSpc>
                <a:spcPct val="112000"/>
              </a:lnSpc>
              <a:buNone/>
            </a:pPr>
            <a:r>
              <a:rPr lang="en-US" sz="1250" dirty="0">
                <a:solidFill>
                  <a:srgbClr val="5C6B5A"/>
                </a:solidFill>
                <a:latin typeface="Calibri" pitchFamily="34" charset="0"/>
                <a:ea typeface="Calibri" pitchFamily="34" charset="-122"/>
                <a:cs typeface="Calibri" pitchFamily="34" charset="-120"/>
              </a:rPr>
              <a:t>Diapers → “New baby?”  Wedding dress → “Getting married?”  One tap unlocks benefits. A bonus, not the core loop.</a:t>
            </a:r>
            <a:endParaRPr lang="en-US" sz="1250" dirty="0"/>
          </a:p>
        </p:txBody>
      </p:sp>
      <p:sp>
        <p:nvSpPr>
          <p:cNvPr id="21" name="Shape 15"/>
          <p:cNvSpPr/>
          <p:nvPr/>
        </p:nvSpPr>
        <p:spPr>
          <a:xfrm>
            <a:off x="7543800" y="1874520"/>
            <a:ext cx="4114800" cy="4416552"/>
          </a:xfrm>
          <a:prstGeom prst="roundRect">
            <a:avLst>
              <a:gd name="adj" fmla="val 2667"/>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22" name="Text 16"/>
          <p:cNvSpPr txBox="1"/>
          <p:nvPr/>
        </p:nvSpPr>
        <p:spPr>
          <a:xfrm>
            <a:off x="7818120" y="2075688"/>
            <a:ext cx="3566160" cy="320040"/>
          </a:xfrm>
          <a:prstGeom prst="rect">
            <a:avLst/>
          </a:prstGeom>
          <a:noFill/>
          <a:ln/>
        </p:spPr>
        <p:txBody>
          <a:bodyPr wrap="square" rtlCol="0" anchor="ctr"/>
          <a:lstStyle/>
          <a:p>
            <a:pPr indent="0" marL="0">
              <a:buNone/>
            </a:pPr>
            <a:r>
              <a:rPr lang="en-US" sz="1400" b="1" dirty="0">
                <a:solidFill>
                  <a:srgbClr val="14401F"/>
                </a:solidFill>
                <a:latin typeface="Calibri" pitchFamily="34" charset="0"/>
                <a:ea typeface="Calibri" pitchFamily="34" charset="-122"/>
                <a:cs typeface="Calibri" pitchFamily="34" charset="-120"/>
              </a:rPr>
              <a:t>Recent activity</a:t>
            </a:r>
            <a:endParaRPr lang="en-US" sz="1400" dirty="0"/>
          </a:p>
        </p:txBody>
      </p:sp>
      <p:sp>
        <p:nvSpPr>
          <p:cNvPr id="23" name="Shape 17"/>
          <p:cNvSpPr/>
          <p:nvPr/>
        </p:nvSpPr>
        <p:spPr>
          <a:xfrm>
            <a:off x="7818120" y="2606040"/>
            <a:ext cx="530352" cy="530352"/>
          </a:xfrm>
          <a:prstGeom prst="ellipse">
            <a:avLst/>
          </a:prstGeom>
          <a:solidFill>
            <a:srgbClr val="ECF3E1"/>
          </a:solidFill>
          <a:ln/>
        </p:spPr>
      </p:sp>
      <p:pic>
        <p:nvPicPr>
          <p:cNvPr id="24" name="Image 4" descr="preencoded.png">    </p:cNvPr>
          <p:cNvPicPr>
            <a:picLocks noChangeAspect="1"/>
          </p:cNvPicPr>
          <p:nvPr/>
        </p:nvPicPr>
        <p:blipFill>
          <a:blip r:embed="rId5"/>
          <a:stretch>
            <a:fillRect/>
          </a:stretch>
        </p:blipFill>
        <p:spPr>
          <a:xfrm>
            <a:off x="7955280" y="2743200"/>
            <a:ext cx="256032" cy="256032"/>
          </a:xfrm>
          <a:prstGeom prst="rect">
            <a:avLst/>
          </a:prstGeom>
        </p:spPr>
      </p:pic>
      <p:sp>
        <p:nvSpPr>
          <p:cNvPr id="25" name="Text 18"/>
          <p:cNvSpPr txBox="1"/>
          <p:nvPr/>
        </p:nvSpPr>
        <p:spPr>
          <a:xfrm>
            <a:off x="8476488" y="2560320"/>
            <a:ext cx="2011680" cy="310896"/>
          </a:xfrm>
          <a:prstGeom prst="rect">
            <a:avLst/>
          </a:prstGeom>
          <a:noFill/>
          <a:ln/>
        </p:spPr>
        <p:txBody>
          <a:bodyPr wrap="square" rtlCol="0" anchor="ctr"/>
          <a:lstStyle/>
          <a:p>
            <a:pPr indent="0" marL="0">
              <a:buNone/>
            </a:pPr>
            <a:r>
              <a:rPr lang="en-US" sz="1350" b="1" dirty="0">
                <a:solidFill>
                  <a:srgbClr val="14401F"/>
                </a:solidFill>
                <a:latin typeface="Calibri" pitchFamily="34" charset="0"/>
                <a:ea typeface="Calibri" pitchFamily="34" charset="-122"/>
                <a:cs typeface="Calibri" pitchFamily="34" charset="-120"/>
              </a:rPr>
              <a:t>Coffee</a:t>
            </a:r>
            <a:endParaRPr lang="en-US" sz="1350" dirty="0"/>
          </a:p>
        </p:txBody>
      </p:sp>
      <p:sp>
        <p:nvSpPr>
          <p:cNvPr id="26" name="Text 19"/>
          <p:cNvSpPr txBox="1"/>
          <p:nvPr/>
        </p:nvSpPr>
        <p:spPr>
          <a:xfrm>
            <a:off x="10287000" y="2560320"/>
            <a:ext cx="1097280" cy="310896"/>
          </a:xfrm>
          <a:prstGeom prst="rect">
            <a:avLst/>
          </a:prstGeom>
          <a:noFill/>
          <a:ln/>
        </p:spPr>
        <p:txBody>
          <a:bodyPr wrap="square" rtlCol="0" anchor="ctr"/>
          <a:lstStyle/>
          <a:p>
            <a:pPr algn="r" indent="0" marL="0">
              <a:buNone/>
            </a:pPr>
            <a:r>
              <a:rPr lang="en-US" sz="1350" b="1" dirty="0">
                <a:solidFill>
                  <a:srgbClr val="14401F"/>
                </a:solidFill>
                <a:latin typeface="Calibri" pitchFamily="34" charset="0"/>
                <a:ea typeface="Calibri" pitchFamily="34" charset="-122"/>
                <a:cs typeface="Calibri" pitchFamily="34" charset="-120"/>
              </a:rPr>
              <a:t>−€3.80</a:t>
            </a:r>
            <a:endParaRPr lang="en-US" sz="1350" dirty="0"/>
          </a:p>
        </p:txBody>
      </p:sp>
      <p:sp>
        <p:nvSpPr>
          <p:cNvPr id="27" name="Shape 20"/>
          <p:cNvSpPr/>
          <p:nvPr/>
        </p:nvSpPr>
        <p:spPr>
          <a:xfrm>
            <a:off x="8476488" y="2916936"/>
            <a:ext cx="2743200" cy="310896"/>
          </a:xfrm>
          <a:prstGeom prst="roundRect">
            <a:avLst>
              <a:gd name="adj" fmla="val 50000"/>
            </a:avLst>
          </a:prstGeom>
          <a:solidFill>
            <a:srgbClr val="ECF3E1"/>
          </a:solidFill>
          <a:ln/>
        </p:spPr>
      </p:sp>
      <p:sp>
        <p:nvSpPr>
          <p:cNvPr id="28" name="Text 21"/>
          <p:cNvSpPr txBox="1"/>
          <p:nvPr/>
        </p:nvSpPr>
        <p:spPr>
          <a:xfrm>
            <a:off x="8549640" y="2926080"/>
            <a:ext cx="2651760" cy="292608"/>
          </a:xfrm>
          <a:prstGeom prst="rect">
            <a:avLst/>
          </a:prstGeom>
          <a:noFill/>
          <a:ln/>
        </p:spPr>
        <p:txBody>
          <a:bodyPr wrap="square" rtlCol="0" anchor="ctr"/>
          <a:lstStyle/>
          <a:p>
            <a:pPr indent="0" marL="0">
              <a:buNone/>
            </a:pPr>
            <a:r>
              <a:rPr lang="en-US" sz="1050" b="1" dirty="0">
                <a:solidFill>
                  <a:srgbClr val="5C6B5A"/>
                </a:solidFill>
                <a:latin typeface="Calibri" pitchFamily="34" charset="0"/>
                <a:ea typeface="Calibri" pitchFamily="34" charset="-122"/>
                <a:cs typeface="Calibri" pitchFamily="34" charset="-120"/>
              </a:rPr>
              <a:t>+€0.11 refund</a:t>
            </a:r>
            <a:endParaRPr lang="en-US" sz="1050" dirty="0"/>
          </a:p>
        </p:txBody>
      </p:sp>
      <p:sp>
        <p:nvSpPr>
          <p:cNvPr id="29" name="Shape 22"/>
          <p:cNvSpPr/>
          <p:nvPr/>
        </p:nvSpPr>
        <p:spPr>
          <a:xfrm>
            <a:off x="7818120" y="3538728"/>
            <a:ext cx="530352" cy="530352"/>
          </a:xfrm>
          <a:prstGeom prst="ellipse">
            <a:avLst/>
          </a:prstGeom>
          <a:solidFill>
            <a:srgbClr val="ECF3E1"/>
          </a:solidFill>
          <a:ln/>
        </p:spPr>
      </p:sp>
      <p:pic>
        <p:nvPicPr>
          <p:cNvPr id="30" name="Image 5" descr="preencoded.png">    </p:cNvPr>
          <p:cNvPicPr>
            <a:picLocks noChangeAspect="1"/>
          </p:cNvPicPr>
          <p:nvPr/>
        </p:nvPicPr>
        <p:blipFill>
          <a:blip r:embed="rId6"/>
          <a:stretch>
            <a:fillRect/>
          </a:stretch>
        </p:blipFill>
        <p:spPr>
          <a:xfrm>
            <a:off x="7955280" y="3675888"/>
            <a:ext cx="256032" cy="256032"/>
          </a:xfrm>
          <a:prstGeom prst="rect">
            <a:avLst/>
          </a:prstGeom>
        </p:spPr>
      </p:pic>
      <p:sp>
        <p:nvSpPr>
          <p:cNvPr id="31" name="Text 23"/>
          <p:cNvSpPr txBox="1"/>
          <p:nvPr/>
        </p:nvSpPr>
        <p:spPr>
          <a:xfrm>
            <a:off x="8476488" y="3493008"/>
            <a:ext cx="2011680" cy="310896"/>
          </a:xfrm>
          <a:prstGeom prst="rect">
            <a:avLst/>
          </a:prstGeom>
          <a:noFill/>
          <a:ln/>
        </p:spPr>
        <p:txBody>
          <a:bodyPr wrap="square" rtlCol="0" anchor="ctr"/>
          <a:lstStyle/>
          <a:p>
            <a:pPr indent="0" marL="0">
              <a:buNone/>
            </a:pPr>
            <a:r>
              <a:rPr lang="en-US" sz="1350" b="1" dirty="0">
                <a:solidFill>
                  <a:srgbClr val="14401F"/>
                </a:solidFill>
                <a:latin typeface="Calibri" pitchFamily="34" charset="0"/>
                <a:ea typeface="Calibri" pitchFamily="34" charset="-122"/>
                <a:cs typeface="Calibri" pitchFamily="34" charset="-120"/>
              </a:rPr>
              <a:t>Transit</a:t>
            </a:r>
            <a:endParaRPr lang="en-US" sz="1350" dirty="0"/>
          </a:p>
        </p:txBody>
      </p:sp>
      <p:sp>
        <p:nvSpPr>
          <p:cNvPr id="32" name="Text 24"/>
          <p:cNvSpPr txBox="1"/>
          <p:nvPr/>
        </p:nvSpPr>
        <p:spPr>
          <a:xfrm>
            <a:off x="10287000" y="3493008"/>
            <a:ext cx="1097280" cy="310896"/>
          </a:xfrm>
          <a:prstGeom prst="rect">
            <a:avLst/>
          </a:prstGeom>
          <a:noFill/>
          <a:ln/>
        </p:spPr>
        <p:txBody>
          <a:bodyPr wrap="square" rtlCol="0" anchor="ctr"/>
          <a:lstStyle/>
          <a:p>
            <a:pPr algn="r" indent="0" marL="0">
              <a:buNone/>
            </a:pPr>
            <a:r>
              <a:rPr lang="en-US" sz="1350" b="1" dirty="0">
                <a:solidFill>
                  <a:srgbClr val="14401F"/>
                </a:solidFill>
                <a:latin typeface="Calibri" pitchFamily="34" charset="0"/>
                <a:ea typeface="Calibri" pitchFamily="34" charset="-122"/>
                <a:cs typeface="Calibri" pitchFamily="34" charset="-120"/>
              </a:rPr>
              <a:t>−€2.90</a:t>
            </a:r>
            <a:endParaRPr lang="en-US" sz="1350" dirty="0"/>
          </a:p>
        </p:txBody>
      </p:sp>
      <p:sp>
        <p:nvSpPr>
          <p:cNvPr id="33" name="Shape 25"/>
          <p:cNvSpPr/>
          <p:nvPr/>
        </p:nvSpPr>
        <p:spPr>
          <a:xfrm>
            <a:off x="8476488" y="3849624"/>
            <a:ext cx="2743200" cy="310896"/>
          </a:xfrm>
          <a:prstGeom prst="roundRect">
            <a:avLst>
              <a:gd name="adj" fmla="val 50000"/>
            </a:avLst>
          </a:prstGeom>
          <a:solidFill>
            <a:srgbClr val="86C440"/>
          </a:solidFill>
          <a:ln/>
        </p:spPr>
      </p:sp>
      <p:sp>
        <p:nvSpPr>
          <p:cNvPr id="34" name="Text 26"/>
          <p:cNvSpPr txBox="1"/>
          <p:nvPr/>
        </p:nvSpPr>
        <p:spPr>
          <a:xfrm>
            <a:off x="8549640" y="3858768"/>
            <a:ext cx="2651760" cy="292608"/>
          </a:xfrm>
          <a:prstGeom prst="rect">
            <a:avLst/>
          </a:prstGeom>
          <a:noFill/>
          <a:ln/>
        </p:spPr>
        <p:txBody>
          <a:bodyPr wrap="square" rtlCol="0" anchor="ctr"/>
          <a:lstStyle/>
          <a:p>
            <a:pPr indent="0" marL="0">
              <a:buNone/>
            </a:pPr>
            <a:r>
              <a:rPr lang="en-US" sz="1050" b="1" dirty="0">
                <a:solidFill>
                  <a:srgbClr val="14401F"/>
                </a:solidFill>
                <a:latin typeface="Calibri" pitchFamily="34" charset="0"/>
                <a:ea typeface="Calibri" pitchFamily="34" charset="-122"/>
                <a:cs typeface="Calibri" pitchFamily="34" charset="-120"/>
              </a:rPr>
              <a:t>commute — deductible</a:t>
            </a:r>
            <a:endParaRPr lang="en-US" sz="1050" dirty="0"/>
          </a:p>
        </p:txBody>
      </p:sp>
      <p:sp>
        <p:nvSpPr>
          <p:cNvPr id="35" name="Shape 27"/>
          <p:cNvSpPr/>
          <p:nvPr/>
        </p:nvSpPr>
        <p:spPr>
          <a:xfrm>
            <a:off x="7818120" y="4471416"/>
            <a:ext cx="530352" cy="530352"/>
          </a:xfrm>
          <a:prstGeom prst="ellipse">
            <a:avLst/>
          </a:prstGeom>
          <a:solidFill>
            <a:srgbClr val="ECF3E1"/>
          </a:solidFill>
          <a:ln/>
        </p:spPr>
      </p:sp>
      <p:pic>
        <p:nvPicPr>
          <p:cNvPr id="36" name="Image 6" descr="preencoded.png">    </p:cNvPr>
          <p:cNvPicPr>
            <a:picLocks noChangeAspect="1"/>
          </p:cNvPicPr>
          <p:nvPr/>
        </p:nvPicPr>
        <p:blipFill>
          <a:blip r:embed="rId7"/>
          <a:stretch>
            <a:fillRect/>
          </a:stretch>
        </p:blipFill>
        <p:spPr>
          <a:xfrm>
            <a:off x="7955280" y="4608576"/>
            <a:ext cx="256032" cy="256032"/>
          </a:xfrm>
          <a:prstGeom prst="rect">
            <a:avLst/>
          </a:prstGeom>
        </p:spPr>
      </p:pic>
      <p:sp>
        <p:nvSpPr>
          <p:cNvPr id="37" name="Text 28"/>
          <p:cNvSpPr txBox="1"/>
          <p:nvPr/>
        </p:nvSpPr>
        <p:spPr>
          <a:xfrm>
            <a:off x="8476488" y="4425696"/>
            <a:ext cx="2011680" cy="310896"/>
          </a:xfrm>
          <a:prstGeom prst="rect">
            <a:avLst/>
          </a:prstGeom>
          <a:noFill/>
          <a:ln/>
        </p:spPr>
        <p:txBody>
          <a:bodyPr wrap="square" rtlCol="0" anchor="ctr"/>
          <a:lstStyle/>
          <a:p>
            <a:pPr indent="0" marL="0">
              <a:buNone/>
            </a:pPr>
            <a:r>
              <a:rPr lang="en-US" sz="1350" b="1" dirty="0">
                <a:solidFill>
                  <a:srgbClr val="14401F"/>
                </a:solidFill>
                <a:latin typeface="Calibri" pitchFamily="34" charset="0"/>
                <a:ea typeface="Calibri" pitchFamily="34" charset="-122"/>
                <a:cs typeface="Calibri" pitchFamily="34" charset="-120"/>
              </a:rPr>
              <a:t>Groceries</a:t>
            </a:r>
            <a:endParaRPr lang="en-US" sz="1350" dirty="0"/>
          </a:p>
        </p:txBody>
      </p:sp>
      <p:sp>
        <p:nvSpPr>
          <p:cNvPr id="38" name="Text 29"/>
          <p:cNvSpPr txBox="1"/>
          <p:nvPr/>
        </p:nvSpPr>
        <p:spPr>
          <a:xfrm>
            <a:off x="10287000" y="4425696"/>
            <a:ext cx="1097280" cy="310896"/>
          </a:xfrm>
          <a:prstGeom prst="rect">
            <a:avLst/>
          </a:prstGeom>
          <a:noFill/>
          <a:ln/>
        </p:spPr>
        <p:txBody>
          <a:bodyPr wrap="square" rtlCol="0" anchor="ctr"/>
          <a:lstStyle/>
          <a:p>
            <a:pPr algn="r" indent="0" marL="0">
              <a:buNone/>
            </a:pPr>
            <a:r>
              <a:rPr lang="en-US" sz="1350" b="1" dirty="0">
                <a:solidFill>
                  <a:srgbClr val="14401F"/>
                </a:solidFill>
                <a:latin typeface="Calibri" pitchFamily="34" charset="0"/>
                <a:ea typeface="Calibri" pitchFamily="34" charset="-122"/>
                <a:cs typeface="Calibri" pitchFamily="34" charset="-120"/>
              </a:rPr>
              <a:t>−€48.10</a:t>
            </a:r>
            <a:endParaRPr lang="en-US" sz="1350" dirty="0"/>
          </a:p>
        </p:txBody>
      </p:sp>
      <p:sp>
        <p:nvSpPr>
          <p:cNvPr id="39" name="Shape 30"/>
          <p:cNvSpPr/>
          <p:nvPr/>
        </p:nvSpPr>
        <p:spPr>
          <a:xfrm>
            <a:off x="8476488" y="4782312"/>
            <a:ext cx="2743200" cy="310896"/>
          </a:xfrm>
          <a:prstGeom prst="roundRect">
            <a:avLst>
              <a:gd name="adj" fmla="val 50000"/>
            </a:avLst>
          </a:prstGeom>
          <a:solidFill>
            <a:srgbClr val="86C440"/>
          </a:solidFill>
          <a:ln/>
        </p:spPr>
      </p:sp>
      <p:sp>
        <p:nvSpPr>
          <p:cNvPr id="40" name="Text 31"/>
          <p:cNvSpPr txBox="1"/>
          <p:nvPr/>
        </p:nvSpPr>
        <p:spPr>
          <a:xfrm>
            <a:off x="8549640" y="4791456"/>
            <a:ext cx="2651760" cy="292608"/>
          </a:xfrm>
          <a:prstGeom prst="rect">
            <a:avLst/>
          </a:prstGeom>
          <a:noFill/>
          <a:ln/>
        </p:spPr>
        <p:txBody>
          <a:bodyPr wrap="square" rtlCol="0" anchor="ctr"/>
          <a:lstStyle/>
          <a:p>
            <a:pPr indent="0" marL="0">
              <a:buNone/>
            </a:pPr>
            <a:r>
              <a:rPr lang="en-US" sz="1050" b="1" dirty="0">
                <a:solidFill>
                  <a:srgbClr val="14401F"/>
                </a:solidFill>
                <a:latin typeface="Calibri" pitchFamily="34" charset="0"/>
                <a:ea typeface="Calibri" pitchFamily="34" charset="-122"/>
                <a:cs typeface="Calibri" pitchFamily="34" charset="-120"/>
              </a:rPr>
              <a:t>+€12 refund</a:t>
            </a:r>
            <a:endParaRPr lang="en-US" sz="1050" dirty="0"/>
          </a:p>
        </p:txBody>
      </p:sp>
      <p:sp>
        <p:nvSpPr>
          <p:cNvPr id="41" name="Shape 32"/>
          <p:cNvSpPr/>
          <p:nvPr/>
        </p:nvSpPr>
        <p:spPr>
          <a:xfrm>
            <a:off x="7818120" y="5404104"/>
            <a:ext cx="530352" cy="530352"/>
          </a:xfrm>
          <a:prstGeom prst="ellipse">
            <a:avLst/>
          </a:prstGeom>
          <a:solidFill>
            <a:srgbClr val="ECF3E1"/>
          </a:solidFill>
          <a:ln/>
        </p:spPr>
      </p:sp>
      <p:pic>
        <p:nvPicPr>
          <p:cNvPr id="42" name="Image 7" descr="preencoded.png">    </p:cNvPr>
          <p:cNvPicPr>
            <a:picLocks noChangeAspect="1"/>
          </p:cNvPicPr>
          <p:nvPr/>
        </p:nvPicPr>
        <p:blipFill>
          <a:blip r:embed="rId8"/>
          <a:stretch>
            <a:fillRect/>
          </a:stretch>
        </p:blipFill>
        <p:spPr>
          <a:xfrm>
            <a:off x="7955280" y="5541264"/>
            <a:ext cx="256032" cy="256032"/>
          </a:xfrm>
          <a:prstGeom prst="rect">
            <a:avLst/>
          </a:prstGeom>
        </p:spPr>
      </p:pic>
      <p:sp>
        <p:nvSpPr>
          <p:cNvPr id="43" name="Text 33"/>
          <p:cNvSpPr txBox="1"/>
          <p:nvPr/>
        </p:nvSpPr>
        <p:spPr>
          <a:xfrm>
            <a:off x="8476488" y="5358384"/>
            <a:ext cx="2011680" cy="310896"/>
          </a:xfrm>
          <a:prstGeom prst="rect">
            <a:avLst/>
          </a:prstGeom>
          <a:noFill/>
          <a:ln/>
        </p:spPr>
        <p:txBody>
          <a:bodyPr wrap="square" rtlCol="0" anchor="ctr"/>
          <a:lstStyle/>
          <a:p>
            <a:pPr indent="0" marL="0">
              <a:buNone/>
            </a:pPr>
            <a:r>
              <a:rPr lang="en-US" sz="1350" b="1" dirty="0">
                <a:solidFill>
                  <a:srgbClr val="14401F"/>
                </a:solidFill>
                <a:latin typeface="Calibri" pitchFamily="34" charset="0"/>
                <a:ea typeface="Calibri" pitchFamily="34" charset="-122"/>
                <a:cs typeface="Calibri" pitchFamily="34" charset="-120"/>
              </a:rPr>
              <a:t>Diapers</a:t>
            </a:r>
            <a:endParaRPr lang="en-US" sz="1350" dirty="0"/>
          </a:p>
        </p:txBody>
      </p:sp>
      <p:sp>
        <p:nvSpPr>
          <p:cNvPr id="44" name="Text 34"/>
          <p:cNvSpPr txBox="1"/>
          <p:nvPr/>
        </p:nvSpPr>
        <p:spPr>
          <a:xfrm>
            <a:off x="10287000" y="5358384"/>
            <a:ext cx="1097280" cy="310896"/>
          </a:xfrm>
          <a:prstGeom prst="rect">
            <a:avLst/>
          </a:prstGeom>
          <a:noFill/>
          <a:ln/>
        </p:spPr>
        <p:txBody>
          <a:bodyPr wrap="square" rtlCol="0" anchor="ctr"/>
          <a:lstStyle/>
          <a:p>
            <a:pPr algn="r" indent="0" marL="0">
              <a:buNone/>
            </a:pPr>
            <a:r>
              <a:rPr lang="en-US" sz="1350" b="1" dirty="0">
                <a:solidFill>
                  <a:srgbClr val="14401F"/>
                </a:solidFill>
                <a:latin typeface="Calibri" pitchFamily="34" charset="0"/>
                <a:ea typeface="Calibri" pitchFamily="34" charset="-122"/>
                <a:cs typeface="Calibri" pitchFamily="34" charset="-120"/>
              </a:rPr>
              <a:t>−€18.40</a:t>
            </a:r>
            <a:endParaRPr lang="en-US" sz="1350" dirty="0"/>
          </a:p>
        </p:txBody>
      </p:sp>
      <p:sp>
        <p:nvSpPr>
          <p:cNvPr id="45" name="Shape 35"/>
          <p:cNvSpPr/>
          <p:nvPr/>
        </p:nvSpPr>
        <p:spPr>
          <a:xfrm>
            <a:off x="8476488" y="5715000"/>
            <a:ext cx="2743200" cy="310896"/>
          </a:xfrm>
          <a:prstGeom prst="roundRect">
            <a:avLst>
              <a:gd name="adj" fmla="val 50000"/>
            </a:avLst>
          </a:prstGeom>
          <a:solidFill>
            <a:srgbClr val="86C440"/>
          </a:solidFill>
          <a:ln/>
        </p:spPr>
      </p:sp>
      <p:sp>
        <p:nvSpPr>
          <p:cNvPr id="46" name="Text 36"/>
          <p:cNvSpPr txBox="1"/>
          <p:nvPr/>
        </p:nvSpPr>
        <p:spPr>
          <a:xfrm>
            <a:off x="8549640" y="5724144"/>
            <a:ext cx="2651760" cy="292608"/>
          </a:xfrm>
          <a:prstGeom prst="rect">
            <a:avLst/>
          </a:prstGeom>
          <a:noFill/>
          <a:ln/>
        </p:spPr>
        <p:txBody>
          <a:bodyPr wrap="square" rtlCol="0" anchor="ctr"/>
          <a:lstStyle/>
          <a:p>
            <a:pPr indent="0" marL="0">
              <a:buNone/>
            </a:pPr>
            <a:r>
              <a:rPr lang="en-US" sz="1050" b="1" dirty="0">
                <a:solidFill>
                  <a:srgbClr val="14401F"/>
                </a:solidFill>
                <a:latin typeface="Calibri" pitchFamily="34" charset="0"/>
                <a:ea typeface="Calibri" pitchFamily="34" charset="-122"/>
                <a:cs typeface="Calibri" pitchFamily="34" charset="-120"/>
              </a:rPr>
              <a:t>New baby?  Tap to confirm</a:t>
            </a:r>
            <a:endParaRPr lang="en-US" sz="1050" dirty="0"/>
          </a:p>
        </p:txBody>
      </p:sp>
      <p:sp>
        <p:nvSpPr>
          <p:cNvPr id="47" name="Text 37"/>
          <p:cNvSpPr txBox="1"/>
          <p:nvPr/>
        </p:nvSpPr>
        <p:spPr>
          <a:xfrm>
            <a:off x="11430000" y="6355080"/>
            <a:ext cx="548640" cy="274320"/>
          </a:xfrm>
          <a:prstGeom prst="rect">
            <a:avLst/>
          </a:prstGeom>
          <a:noFill/>
          <a:ln/>
        </p:spPr>
        <p:txBody>
          <a:bodyPr wrap="square" rtlCol="0" anchor="ctr"/>
          <a:lstStyle/>
          <a:p>
            <a:pPr algn="r" indent="0" marL="0">
              <a:buNone/>
            </a:pPr>
            <a:r>
              <a:rPr lang="en-US" sz="1000" dirty="0">
                <a:solidFill>
                  <a:srgbClr val="5C6B5A"/>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FE9"/>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86C440"/>
          </a:solidFill>
          <a:ln/>
        </p:spPr>
      </p:sp>
      <p:pic>
        <p:nvPicPr>
          <p:cNvPr id="3" name="Image 0" descr="preencoded.png">    </p:cNvPr>
          <p:cNvPicPr>
            <a:picLocks noChangeAspect="1"/>
          </p:cNvPicPr>
          <p:nvPr/>
        </p:nvPicPr>
        <p:blipFill>
          <a:blip r:embed="rId1"/>
          <a:stretch>
            <a:fillRect/>
          </a:stretch>
        </p:blipFill>
        <p:spPr>
          <a:xfrm>
            <a:off x="690372" y="644652"/>
            <a:ext cx="283464" cy="283464"/>
          </a:xfrm>
          <a:prstGeom prst="rect">
            <a:avLst/>
          </a:prstGeom>
        </p:spPr>
      </p:pic>
      <p:sp>
        <p:nvSpPr>
          <p:cNvPr id="4" name="Text 1"/>
          <p:cNvSpPr txBox="1"/>
          <p:nvPr/>
        </p:nvSpPr>
        <p:spPr>
          <a:xfrm>
            <a:off x="1280160" y="457200"/>
            <a:ext cx="9144000" cy="274320"/>
          </a:xfrm>
          <a:prstGeom prst="rect">
            <a:avLst/>
          </a:prstGeom>
          <a:noFill/>
          <a:ln/>
        </p:spPr>
        <p:txBody>
          <a:bodyPr wrap="square" rtlCol="0" anchor="ctr"/>
          <a:lstStyle/>
          <a:p>
            <a:pPr indent="0" marL="0">
              <a:buNone/>
            </a:pPr>
            <a:r>
              <a:rPr lang="en-US" sz="1200" b="1" spc="200" kern="0" dirty="0">
                <a:solidFill>
                  <a:srgbClr val="86C440"/>
                </a:solidFill>
                <a:latin typeface="Calibri" pitchFamily="34" charset="0"/>
                <a:ea typeface="Calibri" pitchFamily="34" charset="-122"/>
                <a:cs typeface="Calibri" pitchFamily="34" charset="-120"/>
              </a:rPr>
              <a:t>THE COACH</a:t>
            </a:r>
            <a:endParaRPr lang="en-US" sz="1200" dirty="0"/>
          </a:p>
        </p:txBody>
      </p:sp>
      <p:sp>
        <p:nvSpPr>
          <p:cNvPr id="5" name="Text 2"/>
          <p:cNvSpPr txBox="1"/>
          <p:nvPr/>
        </p:nvSpPr>
        <p:spPr>
          <a:xfrm>
            <a:off x="1280160" y="694944"/>
            <a:ext cx="10241280" cy="640080"/>
          </a:xfrm>
          <a:prstGeom prst="rect">
            <a:avLst/>
          </a:prstGeom>
          <a:noFill/>
          <a:ln/>
        </p:spPr>
        <p:txBody>
          <a:bodyPr wrap="square" rtlCol="0" anchor="ctr"/>
          <a:lstStyle/>
          <a:p>
            <a:pPr indent="0" marL="0">
              <a:buNone/>
            </a:pPr>
            <a:r>
              <a:rPr lang="en-US" sz="3000" b="1" dirty="0">
                <a:solidFill>
                  <a:srgbClr val="14401F"/>
                </a:solidFill>
                <a:latin typeface="Calibri" pitchFamily="34" charset="0"/>
                <a:ea typeface="Calibri" pitchFamily="34" charset="-122"/>
                <a:cs typeface="Calibri" pitchFamily="34" charset="-120"/>
              </a:rPr>
              <a:t>Tax-smart deals that pay you to engage</a:t>
            </a:r>
            <a:endParaRPr lang="en-US" sz="3000" dirty="0"/>
          </a:p>
        </p:txBody>
      </p:sp>
      <p:sp>
        <p:nvSpPr>
          <p:cNvPr id="6" name="Text 3"/>
          <p:cNvSpPr txBox="1"/>
          <p:nvPr/>
        </p:nvSpPr>
        <p:spPr>
          <a:xfrm>
            <a:off x="822960" y="1645920"/>
            <a:ext cx="10515600" cy="822960"/>
          </a:xfrm>
          <a:prstGeom prst="rect">
            <a:avLst/>
          </a:prstGeom>
          <a:noFill/>
          <a:ln/>
        </p:spPr>
        <p:txBody>
          <a:bodyPr wrap="square" rtlCol="0" anchor="ctr"/>
          <a:lstStyle/>
          <a:p>
            <a:pPr indent="0" marL="0">
              <a:lnSpc>
                <a:spcPct val="120000"/>
              </a:lnSpc>
              <a:buNone/>
            </a:pPr>
            <a:r>
              <a:rPr lang="en-US" sz="1600" dirty="0">
                <a:solidFill>
                  <a:srgbClr val="5C6B5A"/>
                </a:solidFill>
                <a:latin typeface="Calibri" pitchFamily="34" charset="0"/>
                <a:ea typeface="Calibri" pitchFamily="34" charset="-122"/>
                <a:cs typeface="Calibri" pitchFamily="34" charset="-120"/>
              </a:rPr>
              <a:t>Your spending reveals opportunities. A long detected commute surfaces a partner car lease — because the car is deductible, the effective monthly cost drops and your refund goes up.</a:t>
            </a:r>
            <a:endParaRPr lang="en-US" sz="1600" dirty="0"/>
          </a:p>
        </p:txBody>
      </p:sp>
      <p:sp>
        <p:nvSpPr>
          <p:cNvPr id="7" name="Shape 4"/>
          <p:cNvSpPr/>
          <p:nvPr/>
        </p:nvSpPr>
        <p:spPr>
          <a:xfrm>
            <a:off x="822960" y="2697480"/>
            <a:ext cx="5577840" cy="3566160"/>
          </a:xfrm>
          <a:prstGeom prst="roundRect">
            <a:avLst>
              <a:gd name="adj" fmla="val 3077"/>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8" name="Shape 5"/>
          <p:cNvSpPr/>
          <p:nvPr/>
        </p:nvSpPr>
        <p:spPr>
          <a:xfrm>
            <a:off x="1097280" y="2971800"/>
            <a:ext cx="731520" cy="731520"/>
          </a:xfrm>
          <a:prstGeom prst="ellipse">
            <a:avLst/>
          </a:prstGeom>
          <a:solidFill>
            <a:srgbClr val="ECF3E1"/>
          </a:solidFill>
          <a:ln/>
        </p:spPr>
      </p:sp>
      <p:pic>
        <p:nvPicPr>
          <p:cNvPr id="9" name="Image 1" descr="preencoded.png">    </p:cNvPr>
          <p:cNvPicPr>
            <a:picLocks noChangeAspect="1"/>
          </p:cNvPicPr>
          <p:nvPr/>
        </p:nvPicPr>
        <p:blipFill>
          <a:blip r:embed="rId2"/>
          <a:stretch>
            <a:fillRect/>
          </a:stretch>
        </p:blipFill>
        <p:spPr>
          <a:xfrm>
            <a:off x="1280160" y="3172968"/>
            <a:ext cx="365760" cy="329184"/>
          </a:xfrm>
          <a:prstGeom prst="rect">
            <a:avLst/>
          </a:prstGeom>
        </p:spPr>
      </p:pic>
      <p:sp>
        <p:nvSpPr>
          <p:cNvPr id="10" name="Text 6"/>
          <p:cNvSpPr txBox="1"/>
          <p:nvPr/>
        </p:nvSpPr>
        <p:spPr>
          <a:xfrm>
            <a:off x="1965960" y="2999232"/>
            <a:ext cx="4206240" cy="320040"/>
          </a:xfrm>
          <a:prstGeom prst="rect">
            <a:avLst/>
          </a:prstGeom>
          <a:noFill/>
          <a:ln/>
        </p:spPr>
        <p:txBody>
          <a:bodyPr wrap="square" rtlCol="0" anchor="ctr"/>
          <a:lstStyle/>
          <a:p>
            <a:pPr indent="0" marL="0">
              <a:buNone/>
            </a:pPr>
            <a:r>
              <a:rPr lang="en-US" sz="1200" b="1" dirty="0">
                <a:solidFill>
                  <a:srgbClr val="86C440"/>
                </a:solidFill>
                <a:latin typeface="Calibri" pitchFamily="34" charset="0"/>
                <a:ea typeface="Calibri" pitchFamily="34" charset="-122"/>
                <a:cs typeface="Calibri" pitchFamily="34" charset="-120"/>
              </a:rPr>
              <a:t>Detected: long commute</a:t>
            </a:r>
            <a:endParaRPr lang="en-US" sz="1200" dirty="0"/>
          </a:p>
        </p:txBody>
      </p:sp>
      <p:sp>
        <p:nvSpPr>
          <p:cNvPr id="11" name="Text 7"/>
          <p:cNvSpPr txBox="1"/>
          <p:nvPr/>
        </p:nvSpPr>
        <p:spPr>
          <a:xfrm>
            <a:off x="1965960" y="3291840"/>
            <a:ext cx="4206240" cy="411480"/>
          </a:xfrm>
          <a:prstGeom prst="rect">
            <a:avLst/>
          </a:prstGeom>
          <a:noFill/>
          <a:ln/>
        </p:spPr>
        <p:txBody>
          <a:bodyPr wrap="square" rtlCol="0" anchor="ctr"/>
          <a:lstStyle/>
          <a:p>
            <a:pPr indent="0" marL="0">
              <a:buNone/>
            </a:pPr>
            <a:r>
              <a:rPr lang="en-US" sz="1800" b="1" dirty="0">
                <a:solidFill>
                  <a:srgbClr val="14401F"/>
                </a:solidFill>
                <a:latin typeface="Calibri" pitchFamily="34" charset="0"/>
                <a:ea typeface="Calibri" pitchFamily="34" charset="-122"/>
                <a:cs typeface="Calibri" pitchFamily="34" charset="-120"/>
              </a:rPr>
              <a:t>BMW leasing — partner deal</a:t>
            </a:r>
            <a:endParaRPr lang="en-US" sz="1800" dirty="0"/>
          </a:p>
        </p:txBody>
      </p:sp>
      <p:sp>
        <p:nvSpPr>
          <p:cNvPr id="12" name="Text 8"/>
          <p:cNvSpPr txBox="1"/>
          <p:nvPr/>
        </p:nvSpPr>
        <p:spPr>
          <a:xfrm>
            <a:off x="1097280" y="4114800"/>
            <a:ext cx="2377440" cy="274320"/>
          </a:xfrm>
          <a:prstGeom prst="rect">
            <a:avLst/>
          </a:prstGeom>
          <a:noFill/>
          <a:ln/>
        </p:spPr>
        <p:txBody>
          <a:bodyPr wrap="square" rtlCol="0" anchor="ctr"/>
          <a:lstStyle/>
          <a:p>
            <a:pPr indent="0" marL="0">
              <a:buNone/>
            </a:pPr>
            <a:r>
              <a:rPr lang="en-US" sz="1200" dirty="0">
                <a:solidFill>
                  <a:srgbClr val="5C6B5A"/>
                </a:solidFill>
                <a:latin typeface="Calibri" pitchFamily="34" charset="0"/>
                <a:ea typeface="Calibri" pitchFamily="34" charset="-122"/>
                <a:cs typeface="Calibri" pitchFamily="34" charset="-120"/>
              </a:rPr>
              <a:t>Sticker monthly</a:t>
            </a:r>
            <a:endParaRPr lang="en-US" sz="1200" dirty="0"/>
          </a:p>
        </p:txBody>
      </p:sp>
      <p:sp>
        <p:nvSpPr>
          <p:cNvPr id="13" name="Text 9"/>
          <p:cNvSpPr txBox="1"/>
          <p:nvPr/>
        </p:nvSpPr>
        <p:spPr>
          <a:xfrm>
            <a:off x="1097280" y="4343400"/>
            <a:ext cx="2377440" cy="548640"/>
          </a:xfrm>
          <a:prstGeom prst="rect">
            <a:avLst/>
          </a:prstGeom>
          <a:noFill/>
          <a:ln/>
        </p:spPr>
        <p:txBody>
          <a:bodyPr wrap="square" rtlCol="0" anchor="ctr"/>
          <a:lstStyle/>
          <a:p>
            <a:pPr indent="0" marL="0">
              <a:buNone/>
            </a:pPr>
            <a:r>
              <a:rPr lang="en-US" sz="3400" b="1" strike="sngStrike" dirty="0">
                <a:solidFill>
                  <a:srgbClr val="5C6B5A"/>
                </a:solidFill>
                <a:latin typeface="Calibri" pitchFamily="34" charset="0"/>
                <a:ea typeface="Calibri" pitchFamily="34" charset="-122"/>
                <a:cs typeface="Calibri" pitchFamily="34" charset="-120"/>
              </a:rPr>
              <a:t>€599</a:t>
            </a:r>
            <a:endParaRPr lang="en-US" sz="3400" dirty="0"/>
          </a:p>
        </p:txBody>
      </p:sp>
      <p:sp>
        <p:nvSpPr>
          <p:cNvPr id="14" name="Shape 10"/>
          <p:cNvSpPr/>
          <p:nvPr/>
        </p:nvSpPr>
        <p:spPr>
          <a:xfrm>
            <a:off x="3063240" y="4617720"/>
            <a:ext cx="457200" cy="329184"/>
          </a:xfrm>
          <a:prstGeom prst="rightArrow">
            <a:avLst/>
          </a:prstGeom>
          <a:solidFill>
            <a:srgbClr val="86C440"/>
          </a:solidFill>
          <a:ln/>
        </p:spPr>
      </p:sp>
      <p:sp>
        <p:nvSpPr>
          <p:cNvPr id="15" name="Text 11"/>
          <p:cNvSpPr txBox="1"/>
          <p:nvPr/>
        </p:nvSpPr>
        <p:spPr>
          <a:xfrm>
            <a:off x="3657600" y="4114800"/>
            <a:ext cx="2651760" cy="274320"/>
          </a:xfrm>
          <a:prstGeom prst="rect">
            <a:avLst/>
          </a:prstGeom>
          <a:noFill/>
          <a:ln/>
        </p:spPr>
        <p:txBody>
          <a:bodyPr wrap="square" rtlCol="0" anchor="ctr"/>
          <a:lstStyle/>
          <a:p>
            <a:pPr indent="0" marL="0">
              <a:buNone/>
            </a:pPr>
            <a:r>
              <a:rPr lang="en-US" sz="1200" dirty="0">
                <a:solidFill>
                  <a:srgbClr val="5C6B5A"/>
                </a:solidFill>
                <a:latin typeface="Calibri" pitchFamily="34" charset="0"/>
                <a:ea typeface="Calibri" pitchFamily="34" charset="-122"/>
                <a:cs typeface="Calibri" pitchFamily="34" charset="-120"/>
              </a:rPr>
              <a:t>Effective after deduction</a:t>
            </a:r>
            <a:endParaRPr lang="en-US" sz="1200" dirty="0"/>
          </a:p>
        </p:txBody>
      </p:sp>
      <p:sp>
        <p:nvSpPr>
          <p:cNvPr id="16" name="Text 12"/>
          <p:cNvSpPr txBox="1"/>
          <p:nvPr/>
        </p:nvSpPr>
        <p:spPr>
          <a:xfrm>
            <a:off x="3657600" y="4297680"/>
            <a:ext cx="2651760" cy="640080"/>
          </a:xfrm>
          <a:prstGeom prst="rect">
            <a:avLst/>
          </a:prstGeom>
          <a:noFill/>
          <a:ln/>
        </p:spPr>
        <p:txBody>
          <a:bodyPr wrap="square" rtlCol="0" anchor="ctr"/>
          <a:lstStyle/>
          <a:p>
            <a:pPr indent="0" marL="0">
              <a:buNone/>
            </a:pPr>
            <a:r>
              <a:rPr lang="en-US" sz="4000" b="1" dirty="0">
                <a:solidFill>
                  <a:srgbClr val="14401F"/>
                </a:solidFill>
                <a:latin typeface="Calibri" pitchFamily="34" charset="0"/>
                <a:ea typeface="Calibri" pitchFamily="34" charset="-122"/>
                <a:cs typeface="Calibri" pitchFamily="34" charset="-120"/>
              </a:rPr>
              <a:t>€389</a:t>
            </a:r>
            <a:endParaRPr lang="en-US" sz="4000" dirty="0"/>
          </a:p>
        </p:txBody>
      </p:sp>
      <p:sp>
        <p:nvSpPr>
          <p:cNvPr id="17" name="Shape 13"/>
          <p:cNvSpPr/>
          <p:nvPr/>
        </p:nvSpPr>
        <p:spPr>
          <a:xfrm>
            <a:off x="1097280" y="5212080"/>
            <a:ext cx="5029200" cy="777240"/>
          </a:xfrm>
          <a:prstGeom prst="roundRect">
            <a:avLst>
              <a:gd name="adj" fmla="val 11765"/>
            </a:avLst>
          </a:prstGeom>
          <a:solidFill>
            <a:srgbClr val="86C440"/>
          </a:solidFill>
          <a:ln/>
        </p:spPr>
      </p:sp>
      <p:sp>
        <p:nvSpPr>
          <p:cNvPr id="18" name="Text 14"/>
          <p:cNvSpPr txBox="1"/>
          <p:nvPr/>
        </p:nvSpPr>
        <p:spPr>
          <a:xfrm>
            <a:off x="1280160" y="5230368"/>
            <a:ext cx="4754880" cy="731520"/>
          </a:xfrm>
          <a:prstGeom prst="rect">
            <a:avLst/>
          </a:prstGeom>
          <a:noFill/>
          <a:ln/>
        </p:spPr>
        <p:txBody>
          <a:bodyPr wrap="square" rtlCol="0" anchor="ctr"/>
          <a:lstStyle/>
          <a:p>
            <a:pPr indent="0" marL="0">
              <a:buNone/>
            </a:pPr>
            <a:r>
              <a:rPr lang="en-US" sz="2000" b="1" dirty="0">
                <a:solidFill>
                  <a:srgbClr val="14401F"/>
                </a:solidFill>
                <a:latin typeface="Calibri" pitchFamily="34" charset="0"/>
                <a:ea typeface="Calibri" pitchFamily="34" charset="-122"/>
                <a:cs typeface="Calibri" pitchFamily="34" charset="-120"/>
              </a:rPr>
              <a:t>+€2,520 </a:t>
            </a:r>
            <a:pPr indent="0" marL="0">
              <a:buNone/>
            </a:pPr>
            <a:r>
              <a:rPr lang="en-US" sz="1300" dirty="0">
                <a:solidFill>
                  <a:srgbClr val="2C4A18"/>
                </a:solidFill>
                <a:latin typeface="Calibri" pitchFamily="34" charset="0"/>
                <a:ea typeface="Calibri" pitchFamily="34" charset="-122"/>
                <a:cs typeface="Calibri" pitchFamily="34" charset="-120"/>
              </a:rPr>
              <a:t>added to next year’s refund</a:t>
            </a:r>
            <a:endParaRPr lang="en-US" sz="2000" dirty="0"/>
          </a:p>
        </p:txBody>
      </p:sp>
      <p:sp>
        <p:nvSpPr>
          <p:cNvPr id="19" name="Shape 15"/>
          <p:cNvSpPr/>
          <p:nvPr/>
        </p:nvSpPr>
        <p:spPr>
          <a:xfrm>
            <a:off x="6766560" y="2697480"/>
            <a:ext cx="4892040" cy="1691640"/>
          </a:xfrm>
          <a:prstGeom prst="roundRect">
            <a:avLst>
              <a:gd name="adj" fmla="val 6486"/>
            </a:avLst>
          </a:prstGeom>
          <a:solidFill>
            <a:srgbClr val="14401F"/>
          </a:solidFill>
          <a:ln/>
          <a:effectLst>
            <a:outerShdw sx="100000" sy="100000" kx="0" ky="0" algn="bl" rotWithShape="0" blurRad="101600" dist="25400" dir="5400000">
              <a:srgbClr val="000000">
                <a:alpha val="18000"/>
              </a:srgbClr>
            </a:outerShdw>
          </a:effectLst>
        </p:spPr>
      </p:sp>
      <p:sp>
        <p:nvSpPr>
          <p:cNvPr id="20" name="Text 16"/>
          <p:cNvSpPr txBox="1"/>
          <p:nvPr/>
        </p:nvSpPr>
        <p:spPr>
          <a:xfrm>
            <a:off x="7086600" y="2926080"/>
            <a:ext cx="4251960" cy="320040"/>
          </a:xfrm>
          <a:prstGeom prst="rect">
            <a:avLst/>
          </a:prstGeom>
          <a:noFill/>
          <a:ln/>
        </p:spPr>
        <p:txBody>
          <a:bodyPr wrap="square" rtlCol="0" anchor="ctr"/>
          <a:lstStyle/>
          <a:p>
            <a:pPr indent="0" marL="0">
              <a:buNone/>
            </a:pPr>
            <a:r>
              <a:rPr lang="en-US" sz="1300" b="1" dirty="0">
                <a:solidFill>
                  <a:srgbClr val="86C440"/>
                </a:solidFill>
                <a:latin typeface="Calibri" pitchFamily="34" charset="0"/>
                <a:ea typeface="Calibri" pitchFamily="34" charset="-122"/>
                <a:cs typeface="Calibri" pitchFamily="34" charset="-120"/>
              </a:rPr>
              <a:t>The mechanic</a:t>
            </a:r>
            <a:endParaRPr lang="en-US" sz="1300" dirty="0"/>
          </a:p>
        </p:txBody>
      </p:sp>
      <p:sp>
        <p:nvSpPr>
          <p:cNvPr id="21" name="Text 17"/>
          <p:cNvSpPr txBox="1"/>
          <p:nvPr/>
        </p:nvSpPr>
        <p:spPr>
          <a:xfrm>
            <a:off x="7086600" y="3246120"/>
            <a:ext cx="4251960" cy="1097280"/>
          </a:xfrm>
          <a:prstGeom prst="rect">
            <a:avLst/>
          </a:prstGeom>
          <a:noFill/>
          <a:ln/>
        </p:spPr>
        <p:txBody>
          <a:bodyPr wrap="square" rtlCol="0" anchor="ctr"/>
          <a:lstStyle/>
          <a:p>
            <a:pPr indent="0" marL="0">
              <a:lnSpc>
                <a:spcPct val="120000"/>
              </a:lnSpc>
              <a:buNone/>
            </a:pPr>
            <a:r>
              <a:rPr lang="en-US" sz="1400" dirty="0">
                <a:solidFill>
                  <a:srgbClr val="E7F1DE"/>
                </a:solidFill>
                <a:latin typeface="Calibri" pitchFamily="34" charset="0"/>
                <a:ea typeface="Calibri" pitchFamily="34" charset="-122"/>
                <a:cs typeface="Calibri" pitchFamily="34" charset="-120"/>
              </a:rPr>
              <a:t>Same auto-tagging that grows your refund also spots what’s deductible in your life — then finds a deal that turns the tax benefit into real monthly savings.</a:t>
            </a:r>
            <a:endParaRPr lang="en-US" sz="1400" dirty="0"/>
          </a:p>
        </p:txBody>
      </p:sp>
      <p:sp>
        <p:nvSpPr>
          <p:cNvPr id="22" name="Shape 18"/>
          <p:cNvSpPr/>
          <p:nvPr/>
        </p:nvSpPr>
        <p:spPr>
          <a:xfrm>
            <a:off x="6766560" y="4572000"/>
            <a:ext cx="4892040" cy="1691640"/>
          </a:xfrm>
          <a:prstGeom prst="roundRect">
            <a:avLst>
              <a:gd name="adj" fmla="val 6486"/>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23" name="Shape 19"/>
          <p:cNvSpPr/>
          <p:nvPr/>
        </p:nvSpPr>
        <p:spPr>
          <a:xfrm>
            <a:off x="7059168" y="4864608"/>
            <a:ext cx="603504" cy="603504"/>
          </a:xfrm>
          <a:prstGeom prst="ellipse">
            <a:avLst/>
          </a:prstGeom>
          <a:solidFill>
            <a:srgbClr val="ECF3E1"/>
          </a:solidFill>
          <a:ln/>
        </p:spPr>
      </p:sp>
      <p:pic>
        <p:nvPicPr>
          <p:cNvPr id="24" name="Image 2" descr="preencoded.png">    </p:cNvPr>
          <p:cNvPicPr>
            <a:picLocks noChangeAspect="1"/>
          </p:cNvPicPr>
          <p:nvPr/>
        </p:nvPicPr>
        <p:blipFill>
          <a:blip r:embed="rId3"/>
          <a:stretch>
            <a:fillRect/>
          </a:stretch>
        </p:blipFill>
        <p:spPr>
          <a:xfrm>
            <a:off x="7214616" y="5020056"/>
            <a:ext cx="292608" cy="292608"/>
          </a:xfrm>
          <a:prstGeom prst="rect">
            <a:avLst/>
          </a:prstGeom>
        </p:spPr>
      </p:pic>
      <p:sp>
        <p:nvSpPr>
          <p:cNvPr id="25" name="Text 20"/>
          <p:cNvSpPr txBox="1"/>
          <p:nvPr/>
        </p:nvSpPr>
        <p:spPr>
          <a:xfrm>
            <a:off x="7818120" y="4864608"/>
            <a:ext cx="3611880" cy="365760"/>
          </a:xfrm>
          <a:prstGeom prst="rect">
            <a:avLst/>
          </a:prstGeom>
          <a:noFill/>
          <a:ln/>
        </p:spPr>
        <p:txBody>
          <a:bodyPr wrap="square" rtlCol="0" anchor="ctr"/>
          <a:lstStyle/>
          <a:p>
            <a:pPr indent="0" marL="0">
              <a:buNone/>
            </a:pPr>
            <a:r>
              <a:rPr lang="en-US" sz="1500" b="1" dirty="0">
                <a:solidFill>
                  <a:srgbClr val="14401F"/>
                </a:solidFill>
                <a:latin typeface="Calibri" pitchFamily="34" charset="0"/>
                <a:ea typeface="Calibri" pitchFamily="34" charset="-122"/>
                <a:cs typeface="Calibri" pitchFamily="34" charset="-120"/>
              </a:rPr>
              <a:t>Plain-language tips</a:t>
            </a:r>
            <a:endParaRPr lang="en-US" sz="1500" dirty="0"/>
          </a:p>
        </p:txBody>
      </p:sp>
      <p:sp>
        <p:nvSpPr>
          <p:cNvPr id="26" name="Text 21"/>
          <p:cNvSpPr txBox="1"/>
          <p:nvPr/>
        </p:nvSpPr>
        <p:spPr>
          <a:xfrm>
            <a:off x="7818120" y="5230368"/>
            <a:ext cx="3566160" cy="914400"/>
          </a:xfrm>
          <a:prstGeom prst="rect">
            <a:avLst/>
          </a:prstGeom>
          <a:noFill/>
          <a:ln/>
        </p:spPr>
        <p:txBody>
          <a:bodyPr wrap="square" rtlCol="0" anchor="ctr"/>
          <a:lstStyle/>
          <a:p>
            <a:pPr indent="0" marL="0">
              <a:lnSpc>
                <a:spcPct val="115000"/>
              </a:lnSpc>
              <a:buNone/>
            </a:pPr>
            <a:r>
              <a:rPr lang="en-US" sz="1250" dirty="0">
                <a:solidFill>
                  <a:srgbClr val="5C6B5A"/>
                </a:solidFill>
                <a:latin typeface="Calibri" pitchFamily="34" charset="0"/>
                <a:ea typeface="Calibri" pitchFamily="34" charset="-122"/>
                <a:cs typeface="Calibri" pitchFamily="34" charset="-120"/>
              </a:rPr>
              <a:t>“You’re €140 of home-office spend away from the next deduction bracket.” No jargon — just what to do next.</a:t>
            </a:r>
            <a:endParaRPr lang="en-US" sz="1250" dirty="0"/>
          </a:p>
        </p:txBody>
      </p:sp>
      <p:sp>
        <p:nvSpPr>
          <p:cNvPr id="27" name="Text 22"/>
          <p:cNvSpPr txBox="1"/>
          <p:nvPr/>
        </p:nvSpPr>
        <p:spPr>
          <a:xfrm>
            <a:off x="822960" y="6382512"/>
            <a:ext cx="9144000" cy="274320"/>
          </a:xfrm>
          <a:prstGeom prst="rect">
            <a:avLst/>
          </a:prstGeom>
          <a:noFill/>
          <a:ln/>
        </p:spPr>
        <p:txBody>
          <a:bodyPr wrap="square" rtlCol="0" anchor="ctr"/>
          <a:lstStyle/>
          <a:p>
            <a:pPr indent="0" marL="0">
              <a:buNone/>
            </a:pPr>
            <a:r>
              <a:rPr lang="en-US" sz="950" i="1" dirty="0">
                <a:solidFill>
                  <a:srgbClr val="5C6B5A"/>
                </a:solidFill>
                <a:latin typeface="Calibri" pitchFamily="34" charset="0"/>
                <a:ea typeface="Calibri" pitchFamily="34" charset="-122"/>
                <a:cs typeface="Calibri" pitchFamily="34" charset="-120"/>
              </a:rPr>
              <a:t>Figures illustrative — the advance, deductions and deals are simulated in the prototype.</a:t>
            </a:r>
            <a:endParaRPr lang="en-US" sz="950" dirty="0"/>
          </a:p>
        </p:txBody>
      </p:sp>
      <p:sp>
        <p:nvSpPr>
          <p:cNvPr id="28" name="Text 23"/>
          <p:cNvSpPr txBox="1"/>
          <p:nvPr/>
        </p:nvSpPr>
        <p:spPr>
          <a:xfrm>
            <a:off x="11430000" y="6355080"/>
            <a:ext cx="548640" cy="274320"/>
          </a:xfrm>
          <a:prstGeom prst="rect">
            <a:avLst/>
          </a:prstGeom>
          <a:noFill/>
          <a:ln/>
        </p:spPr>
        <p:txBody>
          <a:bodyPr wrap="square" rtlCol="0" anchor="ctr"/>
          <a:lstStyle/>
          <a:p>
            <a:pPr algn="r" indent="0" marL="0">
              <a:buNone/>
            </a:pPr>
            <a:r>
              <a:rPr lang="en-US" sz="1000" dirty="0">
                <a:solidFill>
                  <a:srgbClr val="5C6B5A"/>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401F"/>
        </a:solidFill>
      </p:bgPr>
    </p:bg>
    <p:spTree>
      <p:nvGrpSpPr>
        <p:cNvPr id="1" name=""/>
        <p:cNvGrpSpPr/>
        <p:nvPr/>
      </p:nvGrpSpPr>
      <p:grpSpPr>
        <a:xfrm>
          <a:off x="0" y="0"/>
          <a:ext cx="0" cy="0"/>
          <a:chOff x="0" y="0"/>
          <a:chExt cx="0" cy="0"/>
        </a:xfrm>
      </p:grpSpPr>
      <p:sp>
        <p:nvSpPr>
          <p:cNvPr id="2" name="Shape 0"/>
          <p:cNvSpPr/>
          <p:nvPr/>
        </p:nvSpPr>
        <p:spPr>
          <a:xfrm>
            <a:off x="-1280160" y="-1280160"/>
            <a:ext cx="3108960" cy="3108960"/>
          </a:xfrm>
          <a:prstGeom prst="ellipse">
            <a:avLst/>
          </a:prstGeom>
          <a:solidFill>
            <a:srgbClr val="1C5228"/>
          </a:solidFill>
          <a:ln/>
        </p:spPr>
      </p:sp>
      <p:sp>
        <p:nvSpPr>
          <p:cNvPr id="3" name="Shape 1"/>
          <p:cNvSpPr/>
          <p:nvPr/>
        </p:nvSpPr>
        <p:spPr>
          <a:xfrm>
            <a:off x="548640" y="502920"/>
            <a:ext cx="566928" cy="566928"/>
          </a:xfrm>
          <a:prstGeom prst="ellipse">
            <a:avLst/>
          </a:prstGeom>
          <a:solidFill>
            <a:srgbClr val="86C440"/>
          </a:solidFill>
          <a:ln/>
        </p:spPr>
      </p:sp>
      <p:pic>
        <p:nvPicPr>
          <p:cNvPr id="4" name="Image 0" descr="preencoded.png">    </p:cNvPr>
          <p:cNvPicPr>
            <a:picLocks noChangeAspect="1"/>
          </p:cNvPicPr>
          <p:nvPr/>
        </p:nvPicPr>
        <p:blipFill>
          <a:blip r:embed="rId1"/>
          <a:stretch>
            <a:fillRect/>
          </a:stretch>
        </p:blipFill>
        <p:spPr>
          <a:xfrm>
            <a:off x="690372" y="644652"/>
            <a:ext cx="283464" cy="283464"/>
          </a:xfrm>
          <a:prstGeom prst="rect">
            <a:avLst/>
          </a:prstGeom>
        </p:spPr>
      </p:pic>
      <p:sp>
        <p:nvSpPr>
          <p:cNvPr id="5" name="Text 2"/>
          <p:cNvSpPr txBox="1"/>
          <p:nvPr/>
        </p:nvSpPr>
        <p:spPr>
          <a:xfrm>
            <a:off x="1280160" y="457200"/>
            <a:ext cx="9144000" cy="274320"/>
          </a:xfrm>
          <a:prstGeom prst="rect">
            <a:avLst/>
          </a:prstGeom>
          <a:noFill/>
          <a:ln/>
        </p:spPr>
        <p:txBody>
          <a:bodyPr wrap="square" rtlCol="0" anchor="ctr"/>
          <a:lstStyle/>
          <a:p>
            <a:pPr indent="0" marL="0">
              <a:buNone/>
            </a:pPr>
            <a:r>
              <a:rPr lang="en-US" sz="1200" b="1" spc="200" kern="0" dirty="0">
                <a:solidFill>
                  <a:srgbClr val="86C440"/>
                </a:solidFill>
                <a:latin typeface="Calibri" pitchFamily="34" charset="0"/>
                <a:ea typeface="Calibri" pitchFamily="34" charset="-122"/>
                <a:cs typeface="Calibri" pitchFamily="34" charset="-120"/>
              </a:rPr>
              <a:t>THE PITCH</a:t>
            </a:r>
            <a:endParaRPr lang="en-US" sz="1200" dirty="0"/>
          </a:p>
        </p:txBody>
      </p:sp>
      <p:sp>
        <p:nvSpPr>
          <p:cNvPr id="6" name="Text 3"/>
          <p:cNvSpPr txBox="1"/>
          <p:nvPr/>
        </p:nvSpPr>
        <p:spPr>
          <a:xfrm>
            <a:off x="1280160" y="694944"/>
            <a:ext cx="10058400" cy="6400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Why it wins the brief</a:t>
            </a:r>
            <a:endParaRPr lang="en-US" sz="3000" dirty="0"/>
          </a:p>
        </p:txBody>
      </p:sp>
      <p:sp>
        <p:nvSpPr>
          <p:cNvPr id="7" name="Shape 4"/>
          <p:cNvSpPr/>
          <p:nvPr/>
        </p:nvSpPr>
        <p:spPr>
          <a:xfrm>
            <a:off x="822960" y="1920240"/>
            <a:ext cx="5212080" cy="1965960"/>
          </a:xfrm>
          <a:prstGeom prst="roundRect">
            <a:avLst>
              <a:gd name="adj" fmla="val 4651"/>
            </a:avLst>
          </a:prstGeom>
          <a:solidFill>
            <a:srgbClr val="FFFFFF"/>
          </a:solidFill>
          <a:ln/>
          <a:effectLst>
            <a:outerShdw sx="100000" sy="100000" kx="0" ky="0" algn="bl" rotWithShape="0" blurRad="101600" dist="25400" dir="5400000">
              <a:srgbClr val="000000">
                <a:alpha val="18000"/>
              </a:srgbClr>
            </a:outerShdw>
          </a:effectLst>
        </p:spPr>
      </p:sp>
      <p:sp>
        <p:nvSpPr>
          <p:cNvPr id="8" name="Shape 5"/>
          <p:cNvSpPr/>
          <p:nvPr/>
        </p:nvSpPr>
        <p:spPr>
          <a:xfrm>
            <a:off x="1097280" y="2240280"/>
            <a:ext cx="731520" cy="731520"/>
          </a:xfrm>
          <a:prstGeom prst="ellipse">
            <a:avLst/>
          </a:prstGeom>
          <a:solidFill>
            <a:srgbClr val="ECF3E1"/>
          </a:solidFill>
          <a:ln/>
        </p:spPr>
      </p:sp>
      <p:pic>
        <p:nvPicPr>
          <p:cNvPr id="9" name="Image 1" descr="preencoded.png">    </p:cNvPr>
          <p:cNvPicPr>
            <a:picLocks noChangeAspect="1"/>
          </p:cNvPicPr>
          <p:nvPr/>
        </p:nvPicPr>
        <p:blipFill>
          <a:blip r:embed="rId2"/>
          <a:stretch>
            <a:fillRect/>
          </a:stretch>
        </p:blipFill>
        <p:spPr>
          <a:xfrm>
            <a:off x="1289304" y="2432304"/>
            <a:ext cx="347472" cy="347472"/>
          </a:xfrm>
          <a:prstGeom prst="rect">
            <a:avLst/>
          </a:prstGeom>
        </p:spPr>
      </p:pic>
      <p:sp>
        <p:nvSpPr>
          <p:cNvPr id="10" name="Text 6"/>
          <p:cNvSpPr txBox="1"/>
          <p:nvPr/>
        </p:nvSpPr>
        <p:spPr>
          <a:xfrm>
            <a:off x="1993392" y="2212848"/>
            <a:ext cx="3794760" cy="457200"/>
          </a:xfrm>
          <a:prstGeom prst="rect">
            <a:avLst/>
          </a:prstGeom>
          <a:noFill/>
          <a:ln/>
        </p:spPr>
        <p:txBody>
          <a:bodyPr wrap="square" rtlCol="0" anchor="ctr"/>
          <a:lstStyle/>
          <a:p>
            <a:pPr indent="0" marL="0">
              <a:buNone/>
            </a:pPr>
            <a:r>
              <a:rPr lang="en-US" sz="1800" b="1" dirty="0">
                <a:solidFill>
                  <a:srgbClr val="14401F"/>
                </a:solidFill>
                <a:latin typeface="Calibri" pitchFamily="34" charset="0"/>
                <a:ea typeface="Calibri" pitchFamily="34" charset="-122"/>
                <a:cs typeface="Calibri" pitchFamily="34" charset="-120"/>
              </a:rPr>
              <a:t>Daily value, year-round</a:t>
            </a:r>
            <a:endParaRPr lang="en-US" sz="1800" dirty="0"/>
          </a:p>
        </p:txBody>
      </p:sp>
      <p:sp>
        <p:nvSpPr>
          <p:cNvPr id="11" name="Text 7"/>
          <p:cNvSpPr txBox="1"/>
          <p:nvPr/>
        </p:nvSpPr>
        <p:spPr>
          <a:xfrm>
            <a:off x="1993392" y="2697480"/>
            <a:ext cx="3794760" cy="1005840"/>
          </a:xfrm>
          <a:prstGeom prst="rect">
            <a:avLst/>
          </a:prstGeom>
          <a:noFill/>
          <a:ln/>
        </p:spPr>
        <p:txBody>
          <a:bodyPr wrap="square" rtlCol="0" anchor="ctr"/>
          <a:lstStyle/>
          <a:p>
            <a:pPr indent="0" marL="0">
              <a:lnSpc>
                <a:spcPct val="115000"/>
              </a:lnSpc>
              <a:buNone/>
            </a:pPr>
            <a:r>
              <a:rPr lang="en-US" sz="1300" dirty="0">
                <a:solidFill>
                  <a:srgbClr val="5C6B5A"/>
                </a:solidFill>
                <a:latin typeface="Calibri" pitchFamily="34" charset="0"/>
                <a:ea typeface="Calibri" pitchFamily="34" charset="-122"/>
                <a:cs typeface="Calibri" pitchFamily="34" charset="-120"/>
              </a:rPr>
              <a:t>You open the app because you’re spending and getting cashback + tax value every day — not once a year.</a:t>
            </a:r>
            <a:endParaRPr lang="en-US" sz="1300" dirty="0"/>
          </a:p>
        </p:txBody>
      </p:sp>
      <p:sp>
        <p:nvSpPr>
          <p:cNvPr id="12" name="Shape 8"/>
          <p:cNvSpPr/>
          <p:nvPr/>
        </p:nvSpPr>
        <p:spPr>
          <a:xfrm>
            <a:off x="6702552" y="1920240"/>
            <a:ext cx="5212080" cy="1965960"/>
          </a:xfrm>
          <a:prstGeom prst="roundRect">
            <a:avLst>
              <a:gd name="adj" fmla="val 4651"/>
            </a:avLst>
          </a:prstGeom>
          <a:solidFill>
            <a:srgbClr val="FFFFFF"/>
          </a:solidFill>
          <a:ln/>
          <a:effectLst>
            <a:outerShdw sx="100000" sy="100000" kx="0" ky="0" algn="bl" rotWithShape="0" blurRad="101600" dist="25400" dir="5400000">
              <a:srgbClr val="000000">
                <a:alpha val="18000"/>
              </a:srgbClr>
            </a:outerShdw>
          </a:effectLst>
        </p:spPr>
      </p:sp>
      <p:sp>
        <p:nvSpPr>
          <p:cNvPr id="13" name="Shape 9"/>
          <p:cNvSpPr/>
          <p:nvPr/>
        </p:nvSpPr>
        <p:spPr>
          <a:xfrm>
            <a:off x="6976872" y="2240280"/>
            <a:ext cx="731520" cy="731520"/>
          </a:xfrm>
          <a:prstGeom prst="ellipse">
            <a:avLst/>
          </a:prstGeom>
          <a:solidFill>
            <a:srgbClr val="ECF3E1"/>
          </a:solidFill>
          <a:ln/>
        </p:spPr>
      </p:sp>
      <p:pic>
        <p:nvPicPr>
          <p:cNvPr id="14" name="Image 2" descr="preencoded.png">    </p:cNvPr>
          <p:cNvPicPr>
            <a:picLocks noChangeAspect="1"/>
          </p:cNvPicPr>
          <p:nvPr/>
        </p:nvPicPr>
        <p:blipFill>
          <a:blip r:embed="rId3"/>
          <a:stretch>
            <a:fillRect/>
          </a:stretch>
        </p:blipFill>
        <p:spPr>
          <a:xfrm>
            <a:off x="7168896" y="2432304"/>
            <a:ext cx="347472" cy="347472"/>
          </a:xfrm>
          <a:prstGeom prst="rect">
            <a:avLst/>
          </a:prstGeom>
        </p:spPr>
      </p:pic>
      <p:sp>
        <p:nvSpPr>
          <p:cNvPr id="15" name="Text 10"/>
          <p:cNvSpPr txBox="1"/>
          <p:nvPr/>
        </p:nvSpPr>
        <p:spPr>
          <a:xfrm>
            <a:off x="7872984" y="2212848"/>
            <a:ext cx="3794760" cy="457200"/>
          </a:xfrm>
          <a:prstGeom prst="rect">
            <a:avLst/>
          </a:prstGeom>
          <a:noFill/>
          <a:ln/>
        </p:spPr>
        <p:txBody>
          <a:bodyPr wrap="square" rtlCol="0" anchor="ctr"/>
          <a:lstStyle/>
          <a:p>
            <a:pPr indent="0" marL="0">
              <a:buNone/>
            </a:pPr>
            <a:r>
              <a:rPr lang="en-US" sz="1800" b="1" dirty="0">
                <a:solidFill>
                  <a:srgbClr val="14401F"/>
                </a:solidFill>
                <a:latin typeface="Calibri" pitchFamily="34" charset="0"/>
                <a:ea typeface="Calibri" pitchFamily="34" charset="-122"/>
                <a:cs typeface="Calibri" pitchFamily="34" charset="-120"/>
              </a:rPr>
              <a:t>Intrinsic return loop</a:t>
            </a:r>
            <a:endParaRPr lang="en-US" sz="1800" dirty="0"/>
          </a:p>
        </p:txBody>
      </p:sp>
      <p:sp>
        <p:nvSpPr>
          <p:cNvPr id="16" name="Text 11"/>
          <p:cNvSpPr txBox="1"/>
          <p:nvPr/>
        </p:nvSpPr>
        <p:spPr>
          <a:xfrm>
            <a:off x="7872984" y="2697480"/>
            <a:ext cx="3794760" cy="1005840"/>
          </a:xfrm>
          <a:prstGeom prst="rect">
            <a:avLst/>
          </a:prstGeom>
          <a:noFill/>
          <a:ln/>
        </p:spPr>
        <p:txBody>
          <a:bodyPr wrap="square" rtlCol="0" anchor="ctr"/>
          <a:lstStyle/>
          <a:p>
            <a:pPr indent="0" marL="0">
              <a:lnSpc>
                <a:spcPct val="115000"/>
              </a:lnSpc>
              <a:buNone/>
            </a:pPr>
            <a:r>
              <a:rPr lang="en-US" sz="1300" dirty="0">
                <a:solidFill>
                  <a:srgbClr val="5C6B5A"/>
                </a:solidFill>
                <a:latin typeface="Calibri" pitchFamily="34" charset="0"/>
                <a:ea typeface="Calibri" pitchFamily="34" charset="-122"/>
                <a:cs typeface="Calibri" pitchFamily="34" charset="-120"/>
              </a:rPr>
              <a:t>Spend → auto-tag → refund grows + cashback → spend again. Real value, no fake urgency or notification theatre.</a:t>
            </a:r>
            <a:endParaRPr lang="en-US" sz="1300" dirty="0"/>
          </a:p>
        </p:txBody>
      </p:sp>
      <p:sp>
        <p:nvSpPr>
          <p:cNvPr id="17" name="Shape 12"/>
          <p:cNvSpPr/>
          <p:nvPr/>
        </p:nvSpPr>
        <p:spPr>
          <a:xfrm>
            <a:off x="822960" y="4206240"/>
            <a:ext cx="5212080" cy="1965960"/>
          </a:xfrm>
          <a:prstGeom prst="roundRect">
            <a:avLst>
              <a:gd name="adj" fmla="val 4651"/>
            </a:avLst>
          </a:prstGeom>
          <a:solidFill>
            <a:srgbClr val="FFFFFF"/>
          </a:solidFill>
          <a:ln/>
          <a:effectLst>
            <a:outerShdw sx="100000" sy="100000" kx="0" ky="0" algn="bl" rotWithShape="0" blurRad="101600" dist="25400" dir="5400000">
              <a:srgbClr val="000000">
                <a:alpha val="18000"/>
              </a:srgbClr>
            </a:outerShdw>
          </a:effectLst>
        </p:spPr>
      </p:sp>
      <p:sp>
        <p:nvSpPr>
          <p:cNvPr id="18" name="Shape 13"/>
          <p:cNvSpPr/>
          <p:nvPr/>
        </p:nvSpPr>
        <p:spPr>
          <a:xfrm>
            <a:off x="1097280" y="4526280"/>
            <a:ext cx="731520" cy="731520"/>
          </a:xfrm>
          <a:prstGeom prst="ellipse">
            <a:avLst/>
          </a:prstGeom>
          <a:solidFill>
            <a:srgbClr val="ECF3E1"/>
          </a:solidFill>
          <a:ln/>
        </p:spPr>
      </p:sp>
      <p:pic>
        <p:nvPicPr>
          <p:cNvPr id="19" name="Image 3" descr="preencoded.png">    </p:cNvPr>
          <p:cNvPicPr>
            <a:picLocks noChangeAspect="1"/>
          </p:cNvPicPr>
          <p:nvPr/>
        </p:nvPicPr>
        <p:blipFill>
          <a:blip r:embed="rId4"/>
          <a:stretch>
            <a:fillRect/>
          </a:stretch>
        </p:blipFill>
        <p:spPr>
          <a:xfrm>
            <a:off x="1289304" y="4718304"/>
            <a:ext cx="347472" cy="347472"/>
          </a:xfrm>
          <a:prstGeom prst="rect">
            <a:avLst/>
          </a:prstGeom>
        </p:spPr>
      </p:pic>
      <p:sp>
        <p:nvSpPr>
          <p:cNvPr id="20" name="Text 14"/>
          <p:cNvSpPr txBox="1"/>
          <p:nvPr/>
        </p:nvSpPr>
        <p:spPr>
          <a:xfrm>
            <a:off x="1993392" y="4498848"/>
            <a:ext cx="3794760" cy="457200"/>
          </a:xfrm>
          <a:prstGeom prst="rect">
            <a:avLst/>
          </a:prstGeom>
          <a:noFill/>
          <a:ln/>
        </p:spPr>
        <p:txBody>
          <a:bodyPr wrap="square" rtlCol="0" anchor="ctr"/>
          <a:lstStyle/>
          <a:p>
            <a:pPr indent="0" marL="0">
              <a:buNone/>
            </a:pPr>
            <a:r>
              <a:rPr lang="en-US" sz="1800" b="1" dirty="0">
                <a:solidFill>
                  <a:srgbClr val="14401F"/>
                </a:solidFill>
                <a:latin typeface="Calibri" pitchFamily="34" charset="0"/>
                <a:ea typeface="Calibri" pitchFamily="34" charset="-122"/>
                <a:cs typeface="Calibri" pitchFamily="34" charset="-120"/>
              </a:rPr>
              <a:t>On-brand tone</a:t>
            </a:r>
            <a:endParaRPr lang="en-US" sz="1800" dirty="0"/>
          </a:p>
        </p:txBody>
      </p:sp>
      <p:sp>
        <p:nvSpPr>
          <p:cNvPr id="21" name="Text 15"/>
          <p:cNvSpPr txBox="1"/>
          <p:nvPr/>
        </p:nvSpPr>
        <p:spPr>
          <a:xfrm>
            <a:off x="1993392" y="4983480"/>
            <a:ext cx="3794760" cy="1005840"/>
          </a:xfrm>
          <a:prstGeom prst="rect">
            <a:avLst/>
          </a:prstGeom>
          <a:noFill/>
          <a:ln/>
        </p:spPr>
        <p:txBody>
          <a:bodyPr wrap="square" rtlCol="0" anchor="ctr"/>
          <a:lstStyle/>
          <a:p>
            <a:pPr indent="0" marL="0">
              <a:lnSpc>
                <a:spcPct val="115000"/>
              </a:lnSpc>
              <a:buNone/>
            </a:pPr>
            <a:r>
              <a:rPr lang="en-US" sz="1300" dirty="0">
                <a:solidFill>
                  <a:srgbClr val="5C6B5A"/>
                </a:solidFill>
                <a:latin typeface="Calibri" pitchFamily="34" charset="0"/>
                <a:ea typeface="Calibri" pitchFamily="34" charset="-122"/>
                <a:cs typeface="Calibri" pitchFamily="34" charset="-120"/>
              </a:rPr>
              <a:t>You feel financially savvy and in control — “that grocery run added €12 to my refund” — never guilty.</a:t>
            </a:r>
            <a:endParaRPr lang="en-US" sz="1300" dirty="0"/>
          </a:p>
        </p:txBody>
      </p:sp>
      <p:sp>
        <p:nvSpPr>
          <p:cNvPr id="22" name="Shape 16"/>
          <p:cNvSpPr/>
          <p:nvPr/>
        </p:nvSpPr>
        <p:spPr>
          <a:xfrm>
            <a:off x="6702552" y="4206240"/>
            <a:ext cx="5212080" cy="1965960"/>
          </a:xfrm>
          <a:prstGeom prst="roundRect">
            <a:avLst>
              <a:gd name="adj" fmla="val 4651"/>
            </a:avLst>
          </a:prstGeom>
          <a:solidFill>
            <a:srgbClr val="FFFFFF"/>
          </a:solidFill>
          <a:ln/>
          <a:effectLst>
            <a:outerShdw sx="100000" sy="100000" kx="0" ky="0" algn="bl" rotWithShape="0" blurRad="101600" dist="25400" dir="5400000">
              <a:srgbClr val="000000">
                <a:alpha val="18000"/>
              </a:srgbClr>
            </a:outerShdw>
          </a:effectLst>
        </p:spPr>
      </p:sp>
      <p:sp>
        <p:nvSpPr>
          <p:cNvPr id="23" name="Shape 17"/>
          <p:cNvSpPr/>
          <p:nvPr/>
        </p:nvSpPr>
        <p:spPr>
          <a:xfrm>
            <a:off x="6976872" y="4526280"/>
            <a:ext cx="731520" cy="731520"/>
          </a:xfrm>
          <a:prstGeom prst="ellipse">
            <a:avLst/>
          </a:prstGeom>
          <a:solidFill>
            <a:srgbClr val="ECF3E1"/>
          </a:solidFill>
          <a:ln/>
        </p:spPr>
      </p:sp>
      <p:pic>
        <p:nvPicPr>
          <p:cNvPr id="24" name="Image 4" descr="preencoded.png">    </p:cNvPr>
          <p:cNvPicPr>
            <a:picLocks noChangeAspect="1"/>
          </p:cNvPicPr>
          <p:nvPr/>
        </p:nvPicPr>
        <p:blipFill>
          <a:blip r:embed="rId5"/>
          <a:stretch>
            <a:fillRect/>
          </a:stretch>
        </p:blipFill>
        <p:spPr>
          <a:xfrm>
            <a:off x="7168896" y="4718304"/>
            <a:ext cx="347472" cy="347472"/>
          </a:xfrm>
          <a:prstGeom prst="rect">
            <a:avLst/>
          </a:prstGeom>
        </p:spPr>
      </p:pic>
      <p:sp>
        <p:nvSpPr>
          <p:cNvPr id="25" name="Text 18"/>
          <p:cNvSpPr txBox="1"/>
          <p:nvPr/>
        </p:nvSpPr>
        <p:spPr>
          <a:xfrm>
            <a:off x="7872984" y="4498848"/>
            <a:ext cx="3794760" cy="457200"/>
          </a:xfrm>
          <a:prstGeom prst="rect">
            <a:avLst/>
          </a:prstGeom>
          <a:noFill/>
          <a:ln/>
        </p:spPr>
        <p:txBody>
          <a:bodyPr wrap="square" rtlCol="0" anchor="ctr"/>
          <a:lstStyle/>
          <a:p>
            <a:pPr indent="0" marL="0">
              <a:buNone/>
            </a:pPr>
            <a:r>
              <a:rPr lang="en-US" sz="1800" b="1" dirty="0">
                <a:solidFill>
                  <a:srgbClr val="14401F"/>
                </a:solidFill>
                <a:latin typeface="Calibri" pitchFamily="34" charset="0"/>
                <a:ea typeface="Calibri" pitchFamily="34" charset="-122"/>
                <a:cs typeface="Calibri" pitchFamily="34" charset="-120"/>
              </a:rPr>
              <a:t>Built-in buzz</a:t>
            </a:r>
            <a:endParaRPr lang="en-US" sz="1800" dirty="0"/>
          </a:p>
        </p:txBody>
      </p:sp>
      <p:sp>
        <p:nvSpPr>
          <p:cNvPr id="26" name="Text 19"/>
          <p:cNvSpPr txBox="1"/>
          <p:nvPr/>
        </p:nvSpPr>
        <p:spPr>
          <a:xfrm>
            <a:off x="7872984" y="4983480"/>
            <a:ext cx="3794760" cy="1005840"/>
          </a:xfrm>
          <a:prstGeom prst="rect">
            <a:avLst/>
          </a:prstGeom>
          <a:noFill/>
          <a:ln/>
        </p:spPr>
        <p:txBody>
          <a:bodyPr wrap="square" rtlCol="0" anchor="ctr"/>
          <a:lstStyle/>
          <a:p>
            <a:pPr indent="0" marL="0">
              <a:lnSpc>
                <a:spcPct val="115000"/>
              </a:lnSpc>
              <a:buNone/>
            </a:pPr>
            <a:r>
              <a:rPr lang="en-US" sz="1300" dirty="0">
                <a:solidFill>
                  <a:srgbClr val="5C6B5A"/>
                </a:solidFill>
                <a:latin typeface="Calibri" pitchFamily="34" charset="0"/>
                <a:ea typeface="Calibri" pitchFamily="34" charset="-122"/>
                <a:cs typeface="Calibri" pitchFamily="34" charset="-120"/>
              </a:rPr>
              <a:t>“Taxfix advances your refund and every coffee you buy quietly grows next year’s.” Tweetable by design.</a:t>
            </a:r>
            <a:endParaRPr lang="en-US" sz="1300" dirty="0"/>
          </a:p>
        </p:txBody>
      </p:sp>
      <p:sp>
        <p:nvSpPr>
          <p:cNvPr id="27" name="Text 20"/>
          <p:cNvSpPr txBox="1"/>
          <p:nvPr/>
        </p:nvSpPr>
        <p:spPr>
          <a:xfrm>
            <a:off x="11430000" y="6355080"/>
            <a:ext cx="548640" cy="274320"/>
          </a:xfrm>
          <a:prstGeom prst="rect">
            <a:avLst/>
          </a:prstGeom>
          <a:noFill/>
          <a:ln/>
        </p:spPr>
        <p:txBody>
          <a:bodyPr wrap="square" rtlCol="0" anchor="ctr"/>
          <a:lstStyle/>
          <a:p>
            <a:pPr algn="r" indent="0" marL="0">
              <a:buNone/>
            </a:pPr>
            <a:r>
              <a:rPr lang="en-US" sz="1000" dirty="0">
                <a:solidFill>
                  <a:srgbClr val="A9C09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FE9"/>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86C440"/>
          </a:solidFill>
          <a:ln/>
        </p:spPr>
      </p:sp>
      <p:pic>
        <p:nvPicPr>
          <p:cNvPr id="3" name="Image 0" descr="preencoded.png">    </p:cNvPr>
          <p:cNvPicPr>
            <a:picLocks noChangeAspect="1"/>
          </p:cNvPicPr>
          <p:nvPr/>
        </p:nvPicPr>
        <p:blipFill>
          <a:blip r:embed="rId1"/>
          <a:stretch>
            <a:fillRect/>
          </a:stretch>
        </p:blipFill>
        <p:spPr>
          <a:xfrm>
            <a:off x="690372" y="644652"/>
            <a:ext cx="283464" cy="283464"/>
          </a:xfrm>
          <a:prstGeom prst="rect">
            <a:avLst/>
          </a:prstGeom>
        </p:spPr>
      </p:pic>
      <p:sp>
        <p:nvSpPr>
          <p:cNvPr id="4" name="Text 1"/>
          <p:cNvSpPr txBox="1"/>
          <p:nvPr/>
        </p:nvSpPr>
        <p:spPr>
          <a:xfrm>
            <a:off x="1280160" y="457200"/>
            <a:ext cx="9144000" cy="274320"/>
          </a:xfrm>
          <a:prstGeom prst="rect">
            <a:avLst/>
          </a:prstGeom>
          <a:noFill/>
          <a:ln/>
        </p:spPr>
        <p:txBody>
          <a:bodyPr wrap="square" rtlCol="0" anchor="ctr"/>
          <a:lstStyle/>
          <a:p>
            <a:pPr indent="0" marL="0">
              <a:buNone/>
            </a:pPr>
            <a:r>
              <a:rPr lang="en-US" sz="1200" b="1" spc="200" kern="0" dirty="0">
                <a:solidFill>
                  <a:srgbClr val="86C440"/>
                </a:solidFill>
                <a:latin typeface="Calibri" pitchFamily="34" charset="0"/>
                <a:ea typeface="Calibri" pitchFamily="34" charset="-122"/>
                <a:cs typeface="Calibri" pitchFamily="34" charset="-120"/>
              </a:rPr>
              <a:t>UNDER THE HOOD</a:t>
            </a:r>
            <a:endParaRPr lang="en-US" sz="1200" dirty="0"/>
          </a:p>
        </p:txBody>
      </p:sp>
      <p:sp>
        <p:nvSpPr>
          <p:cNvPr id="5" name="Text 2"/>
          <p:cNvSpPr txBox="1"/>
          <p:nvPr/>
        </p:nvSpPr>
        <p:spPr>
          <a:xfrm>
            <a:off x="1280160" y="694944"/>
            <a:ext cx="10241280" cy="640080"/>
          </a:xfrm>
          <a:prstGeom prst="rect">
            <a:avLst/>
          </a:prstGeom>
          <a:noFill/>
          <a:ln/>
        </p:spPr>
        <p:txBody>
          <a:bodyPr wrap="square" rtlCol="0" anchor="ctr"/>
          <a:lstStyle/>
          <a:p>
            <a:pPr indent="0" marL="0">
              <a:buNone/>
            </a:pPr>
            <a:r>
              <a:rPr lang="en-US" sz="3000" b="1" dirty="0">
                <a:solidFill>
                  <a:srgbClr val="14401F"/>
                </a:solidFill>
                <a:latin typeface="Calibri" pitchFamily="34" charset="0"/>
                <a:ea typeface="Calibri" pitchFamily="34" charset="-122"/>
                <a:cs typeface="Calibri" pitchFamily="34" charset="-120"/>
              </a:rPr>
              <a:t>Built to demo, honest about scope</a:t>
            </a:r>
            <a:endParaRPr lang="en-US" sz="3000" dirty="0"/>
          </a:p>
        </p:txBody>
      </p:sp>
      <p:sp>
        <p:nvSpPr>
          <p:cNvPr id="6" name="Shape 3"/>
          <p:cNvSpPr/>
          <p:nvPr/>
        </p:nvSpPr>
        <p:spPr>
          <a:xfrm>
            <a:off x="822960" y="1828800"/>
            <a:ext cx="5257800" cy="4434840"/>
          </a:xfrm>
          <a:prstGeom prst="roundRect">
            <a:avLst>
              <a:gd name="adj" fmla="val 2474"/>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7" name="Shape 4"/>
          <p:cNvSpPr/>
          <p:nvPr/>
        </p:nvSpPr>
        <p:spPr>
          <a:xfrm>
            <a:off x="1115568" y="2103120"/>
            <a:ext cx="603504" cy="603504"/>
          </a:xfrm>
          <a:prstGeom prst="ellipse">
            <a:avLst/>
          </a:prstGeom>
          <a:solidFill>
            <a:srgbClr val="ECF3E1"/>
          </a:solidFill>
          <a:ln/>
        </p:spPr>
      </p:sp>
      <p:pic>
        <p:nvPicPr>
          <p:cNvPr id="8" name="Image 1" descr="preencoded.png">    </p:cNvPr>
          <p:cNvPicPr>
            <a:picLocks noChangeAspect="1"/>
          </p:cNvPicPr>
          <p:nvPr/>
        </p:nvPicPr>
        <p:blipFill>
          <a:blip r:embed="rId2"/>
          <a:stretch>
            <a:fillRect/>
          </a:stretch>
        </p:blipFill>
        <p:spPr>
          <a:xfrm>
            <a:off x="1271016" y="2258568"/>
            <a:ext cx="292608" cy="292608"/>
          </a:xfrm>
          <a:prstGeom prst="rect">
            <a:avLst/>
          </a:prstGeom>
        </p:spPr>
      </p:pic>
      <p:sp>
        <p:nvSpPr>
          <p:cNvPr id="9" name="Text 5"/>
          <p:cNvSpPr txBox="1"/>
          <p:nvPr/>
        </p:nvSpPr>
        <p:spPr>
          <a:xfrm>
            <a:off x="1874520" y="2176272"/>
            <a:ext cx="3657600" cy="457200"/>
          </a:xfrm>
          <a:prstGeom prst="rect">
            <a:avLst/>
          </a:prstGeom>
          <a:noFill/>
          <a:ln/>
        </p:spPr>
        <p:txBody>
          <a:bodyPr wrap="square" rtlCol="0" anchor="ctr"/>
          <a:lstStyle/>
          <a:p>
            <a:pPr indent="0" marL="0">
              <a:buNone/>
            </a:pPr>
            <a:r>
              <a:rPr lang="en-US" sz="1800" b="1" dirty="0">
                <a:solidFill>
                  <a:srgbClr val="14401F"/>
                </a:solidFill>
                <a:latin typeface="Calibri" pitchFamily="34" charset="0"/>
                <a:ea typeface="Calibri" pitchFamily="34" charset="-122"/>
                <a:cs typeface="Calibri" pitchFamily="34" charset="-120"/>
              </a:rPr>
              <a:t>Tech stack</a:t>
            </a:r>
            <a:endParaRPr lang="en-US" sz="1800" dirty="0"/>
          </a:p>
        </p:txBody>
      </p:sp>
      <p:sp>
        <p:nvSpPr>
          <p:cNvPr id="10" name="Text 6"/>
          <p:cNvSpPr txBox="1"/>
          <p:nvPr/>
        </p:nvSpPr>
        <p:spPr>
          <a:xfrm>
            <a:off x="1188720" y="2651760"/>
            <a:ext cx="4572000" cy="3200400"/>
          </a:xfrm>
          <a:prstGeom prst="rect">
            <a:avLst/>
          </a:prstGeom>
          <a:noFill/>
          <a:ln/>
        </p:spPr>
        <p:txBody>
          <a:bodyPr wrap="square" rtlCol="0" anchor="ctr"/>
          <a:lstStyle/>
          <a:p>
            <a:pPr marL="228600" indent="-228600">
              <a:lnSpc>
                <a:spcPct val="110000"/>
              </a:lnSpc>
              <a:spcAft>
                <a:spcPts val="1200"/>
              </a:spcAft>
              <a:buSzPct val="100000"/>
              <a:buChar char="•"/>
            </a:pPr>
            <a:r>
              <a:rPr lang="en-US" sz="1400" dirty="0">
                <a:solidFill>
                  <a:srgbClr val="14401F"/>
                </a:solidFill>
                <a:latin typeface="Calibri" pitchFamily="34" charset="0"/>
                <a:ea typeface="Calibri" pitchFamily="34" charset="-122"/>
                <a:cs typeface="Calibri" pitchFamily="34" charset="-120"/>
              </a:rPr>
              <a:t>Vite + React + TypeScript + Tailwind CSS</a:t>
            </a:r>
            <a:endParaRPr lang="en-US" sz="1400" dirty="0"/>
          </a:p>
          <a:p>
            <a:pPr marL="228600" indent="-228600">
              <a:lnSpc>
                <a:spcPct val="110000"/>
              </a:lnSpc>
              <a:spcAft>
                <a:spcPts val="1200"/>
              </a:spcAft>
              <a:buSzPct val="100000"/>
              <a:buChar char="•"/>
            </a:pPr>
            <a:r>
              <a:rPr lang="en-US" sz="1400" dirty="0">
                <a:solidFill>
                  <a:srgbClr val="14401F"/>
                </a:solidFill>
                <a:latin typeface="Calibri" pitchFamily="34" charset="0"/>
                <a:ea typeface="Calibri" pitchFamily="34" charset="-122"/>
                <a:cs typeface="Calibri" pitchFamily="34" charset="-120"/>
              </a:rPr>
              <a:t>framer-motion (count-ups, sheet transitions) + canvas-confetti</a:t>
            </a:r>
            <a:endParaRPr lang="en-US" sz="1400" dirty="0"/>
          </a:p>
          <a:p>
            <a:pPr marL="228600" indent="-228600">
              <a:lnSpc>
                <a:spcPct val="110000"/>
              </a:lnSpc>
              <a:spcAft>
                <a:spcPts val="1200"/>
              </a:spcAft>
              <a:buSzPct val="100000"/>
              <a:buChar char="•"/>
            </a:pPr>
            <a:r>
              <a:rPr lang="en-US" sz="1400" dirty="0">
                <a:solidFill>
                  <a:srgbClr val="14401F"/>
                </a:solidFill>
                <a:latin typeface="Calibri" pitchFamily="34" charset="0"/>
                <a:ea typeface="Calibri" pitchFamily="34" charset="-122"/>
                <a:cs typeface="Calibri" pitchFamily="34" charset="-120"/>
              </a:rPr>
              <a:t>lucide-react icons, mobile-first in a phone frame</a:t>
            </a:r>
            <a:endParaRPr lang="en-US" sz="1400" dirty="0"/>
          </a:p>
          <a:p>
            <a:pPr marL="228600" indent="-228600">
              <a:lnSpc>
                <a:spcPct val="110000"/>
              </a:lnSpc>
              <a:spcAft>
                <a:spcPts val="1200"/>
              </a:spcAft>
              <a:buSzPct val="100000"/>
              <a:buChar char="•"/>
            </a:pPr>
            <a:r>
              <a:rPr lang="en-US" sz="1400" dirty="0">
                <a:solidFill>
                  <a:srgbClr val="14401F"/>
                </a:solidFill>
                <a:latin typeface="Calibri" pitchFamily="34" charset="0"/>
                <a:ea typeface="Calibri" pitchFamily="34" charset="-122"/>
                <a:cs typeface="Calibri" pitchFamily="34" charset="-120"/>
              </a:rPr>
              <a:t>Single React context store with mock/seed data — all client-side, no backend</a:t>
            </a:r>
            <a:endParaRPr lang="en-US" sz="1400" dirty="0"/>
          </a:p>
        </p:txBody>
      </p:sp>
      <p:sp>
        <p:nvSpPr>
          <p:cNvPr id="11" name="Shape 7"/>
          <p:cNvSpPr/>
          <p:nvPr/>
        </p:nvSpPr>
        <p:spPr>
          <a:xfrm>
            <a:off x="6720840" y="1828800"/>
            <a:ext cx="4937760" cy="2121408"/>
          </a:xfrm>
          <a:prstGeom prst="roundRect">
            <a:avLst>
              <a:gd name="adj" fmla="val 5172"/>
            </a:avLst>
          </a:prstGeom>
          <a:solidFill>
            <a:srgbClr val="14401F"/>
          </a:solidFill>
          <a:ln/>
          <a:effectLst>
            <a:outerShdw sx="100000" sy="100000" kx="0" ky="0" algn="bl" rotWithShape="0" blurRad="101600" dist="25400" dir="5400000">
              <a:srgbClr val="000000">
                <a:alpha val="18000"/>
              </a:srgbClr>
            </a:outerShdw>
          </a:effectLst>
        </p:spPr>
      </p:sp>
      <p:sp>
        <p:nvSpPr>
          <p:cNvPr id="12" name="Text 8"/>
          <p:cNvSpPr txBox="1"/>
          <p:nvPr/>
        </p:nvSpPr>
        <p:spPr>
          <a:xfrm>
            <a:off x="7040880" y="2057400"/>
            <a:ext cx="4297680" cy="274320"/>
          </a:xfrm>
          <a:prstGeom prst="rect">
            <a:avLst/>
          </a:prstGeom>
          <a:noFill/>
          <a:ln/>
        </p:spPr>
        <p:txBody>
          <a:bodyPr wrap="square" rtlCol="0" anchor="ctr"/>
          <a:lstStyle/>
          <a:p>
            <a:pPr indent="0" marL="0">
              <a:buNone/>
            </a:pPr>
            <a:r>
              <a:rPr lang="en-US" sz="1100" b="1" spc="100" kern="0" dirty="0">
                <a:solidFill>
                  <a:srgbClr val="86C440"/>
                </a:solidFill>
                <a:latin typeface="Calibri" pitchFamily="34" charset="0"/>
                <a:ea typeface="Calibri" pitchFamily="34" charset="-122"/>
                <a:cs typeface="Calibri" pitchFamily="34" charset="-120"/>
              </a:rPr>
              <a:t>SIMULATED TO CONVEY THE CONCEPT</a:t>
            </a:r>
            <a:endParaRPr lang="en-US" sz="1100" dirty="0"/>
          </a:p>
        </p:txBody>
      </p:sp>
      <p:sp>
        <p:nvSpPr>
          <p:cNvPr id="13" name="Text 9"/>
          <p:cNvSpPr txBox="1"/>
          <p:nvPr/>
        </p:nvSpPr>
        <p:spPr>
          <a:xfrm>
            <a:off x="7086600" y="2395728"/>
            <a:ext cx="4251960" cy="1463040"/>
          </a:xfrm>
          <a:prstGeom prst="rect">
            <a:avLst/>
          </a:prstGeom>
          <a:noFill/>
          <a:ln/>
        </p:spPr>
        <p:txBody>
          <a:bodyPr wrap="square" rtlCol="0" anchor="ctr"/>
          <a:lstStyle/>
          <a:p>
            <a:pPr marL="203200" indent="-203200">
              <a:spcAft>
                <a:spcPts val="700"/>
              </a:spcAft>
              <a:buSzPct val="100000"/>
              <a:buChar char="•"/>
            </a:pPr>
            <a:r>
              <a:rPr lang="en-US" sz="1350" dirty="0">
                <a:solidFill>
                  <a:srgbClr val="E7F1DE"/>
                </a:solidFill>
                <a:latin typeface="Calibri" pitchFamily="34" charset="0"/>
                <a:ea typeface="Calibri" pitchFamily="34" charset="-122"/>
                <a:cs typeface="Calibri" pitchFamily="34" charset="-120"/>
              </a:rPr>
              <a:t>Refund advance &amp; spendable balance</a:t>
            </a:r>
            <a:endParaRPr lang="en-US" sz="1350" dirty="0"/>
          </a:p>
          <a:p>
            <a:pPr marL="203200" indent="-203200">
              <a:spcAft>
                <a:spcPts val="700"/>
              </a:spcAft>
              <a:buSzPct val="100000"/>
              <a:buChar char="•"/>
            </a:pPr>
            <a:r>
              <a:rPr lang="en-US" sz="1350" dirty="0">
                <a:solidFill>
                  <a:srgbClr val="E7F1DE"/>
                </a:solidFill>
                <a:latin typeface="Calibri" pitchFamily="34" charset="0"/>
                <a:ea typeface="Calibri" pitchFamily="34" charset="-122"/>
                <a:cs typeface="Calibri" pitchFamily="34" charset="-120"/>
              </a:rPr>
              <a:t>Auto-categorization + tax tags</a:t>
            </a:r>
            <a:endParaRPr lang="en-US" sz="1350" dirty="0"/>
          </a:p>
          <a:p>
            <a:pPr marL="203200" indent="-203200">
              <a:spcAft>
                <a:spcPts val="700"/>
              </a:spcAft>
              <a:buSzPct val="100000"/>
              <a:buChar char="•"/>
            </a:pPr>
            <a:r>
              <a:rPr lang="en-US" sz="1350" dirty="0">
                <a:solidFill>
                  <a:srgbClr val="E7F1DE"/>
                </a:solidFill>
                <a:latin typeface="Calibri" pitchFamily="34" charset="0"/>
                <a:ea typeface="Calibri" pitchFamily="34" charset="-122"/>
                <a:cs typeface="Calibri" pitchFamily="34" charset="-120"/>
              </a:rPr>
              <a:t>Life-event detection</a:t>
            </a:r>
            <a:endParaRPr lang="en-US" sz="1350" dirty="0"/>
          </a:p>
          <a:p>
            <a:pPr marL="203200" indent="-203200">
              <a:spcAft>
                <a:spcPts val="700"/>
              </a:spcAft>
              <a:buSzPct val="100000"/>
              <a:buChar char="•"/>
            </a:pPr>
            <a:r>
              <a:rPr lang="en-US" sz="1350" dirty="0">
                <a:solidFill>
                  <a:srgbClr val="E7F1DE"/>
                </a:solidFill>
                <a:latin typeface="Calibri" pitchFamily="34" charset="0"/>
                <a:ea typeface="Calibri" pitchFamily="34" charset="-122"/>
                <a:cs typeface="Calibri" pitchFamily="34" charset="-120"/>
              </a:rPr>
              <a:t>Cashback</a:t>
            </a:r>
            <a:endParaRPr lang="en-US" sz="1350" dirty="0"/>
          </a:p>
        </p:txBody>
      </p:sp>
      <p:sp>
        <p:nvSpPr>
          <p:cNvPr id="14" name="Shape 10"/>
          <p:cNvSpPr/>
          <p:nvPr/>
        </p:nvSpPr>
        <p:spPr>
          <a:xfrm>
            <a:off x="6720840" y="4142232"/>
            <a:ext cx="4937760" cy="2121408"/>
          </a:xfrm>
          <a:prstGeom prst="roundRect">
            <a:avLst>
              <a:gd name="adj" fmla="val 5172"/>
            </a:avLst>
          </a:prstGeom>
          <a:solidFill>
            <a:srgbClr val="FFFFFF"/>
          </a:solidFill>
          <a:ln w="12700">
            <a:solidFill>
              <a:srgbClr val="E4E0D6"/>
            </a:solidFill>
            <a:prstDash val="solid"/>
          </a:ln>
          <a:effectLst>
            <a:outerShdw sx="100000" sy="100000" kx="0" ky="0" algn="bl" rotWithShape="0" blurRad="101600" dist="25400" dir="5400000">
              <a:srgbClr val="000000">
                <a:alpha val="18000"/>
              </a:srgbClr>
            </a:outerShdw>
          </a:effectLst>
        </p:spPr>
      </p:sp>
      <p:sp>
        <p:nvSpPr>
          <p:cNvPr id="15" name="Text 11"/>
          <p:cNvSpPr txBox="1"/>
          <p:nvPr/>
        </p:nvSpPr>
        <p:spPr>
          <a:xfrm>
            <a:off x="7040880" y="4370832"/>
            <a:ext cx="4297680" cy="274320"/>
          </a:xfrm>
          <a:prstGeom prst="rect">
            <a:avLst/>
          </a:prstGeom>
          <a:noFill/>
          <a:ln/>
        </p:spPr>
        <p:txBody>
          <a:bodyPr wrap="square" rtlCol="0" anchor="ctr"/>
          <a:lstStyle/>
          <a:p>
            <a:pPr indent="0" marL="0">
              <a:buNone/>
            </a:pPr>
            <a:r>
              <a:rPr lang="en-US" sz="1100" b="1" spc="100" kern="0" dirty="0">
                <a:solidFill>
                  <a:srgbClr val="5C6B5A"/>
                </a:solidFill>
                <a:latin typeface="Calibri" pitchFamily="34" charset="0"/>
                <a:ea typeface="Calibri" pitchFamily="34" charset="-122"/>
                <a:cs typeface="Calibri" pitchFamily="34" charset="-120"/>
              </a:rPr>
              <a:t>OUT OF SCOPE FOR THE PROTOTYPE</a:t>
            </a:r>
            <a:endParaRPr lang="en-US" sz="1100" dirty="0"/>
          </a:p>
        </p:txBody>
      </p:sp>
      <p:sp>
        <p:nvSpPr>
          <p:cNvPr id="16" name="Text 12"/>
          <p:cNvSpPr txBox="1"/>
          <p:nvPr/>
        </p:nvSpPr>
        <p:spPr>
          <a:xfrm>
            <a:off x="7086600" y="4709160"/>
            <a:ext cx="4251960" cy="1463040"/>
          </a:xfrm>
          <a:prstGeom prst="rect">
            <a:avLst/>
          </a:prstGeom>
          <a:noFill/>
          <a:ln/>
        </p:spPr>
        <p:txBody>
          <a:bodyPr wrap="square" rtlCol="0" anchor="ctr"/>
          <a:lstStyle/>
          <a:p>
            <a:pPr marL="203200" indent="-203200">
              <a:spcAft>
                <a:spcPts val="700"/>
              </a:spcAft>
              <a:buSzPct val="100000"/>
              <a:buChar char="•"/>
            </a:pPr>
            <a:r>
              <a:rPr lang="en-US" sz="1350" dirty="0">
                <a:solidFill>
                  <a:srgbClr val="14401F"/>
                </a:solidFill>
                <a:latin typeface="Calibri" pitchFamily="34" charset="0"/>
                <a:ea typeface="Calibri" pitchFamily="34" charset="-122"/>
                <a:cs typeface="Calibri" pitchFamily="34" charset="-120"/>
              </a:rPr>
              <a:t>Real Finanzamt / bank integrations</a:t>
            </a:r>
            <a:endParaRPr lang="en-US" sz="1350" dirty="0"/>
          </a:p>
          <a:p>
            <a:pPr marL="203200" indent="-203200">
              <a:spcAft>
                <a:spcPts val="700"/>
              </a:spcAft>
              <a:buSzPct val="100000"/>
              <a:buChar char="•"/>
            </a:pPr>
            <a:r>
              <a:rPr lang="en-US" sz="1350" dirty="0">
                <a:solidFill>
                  <a:srgbClr val="14401F"/>
                </a:solidFill>
                <a:latin typeface="Calibri" pitchFamily="34" charset="0"/>
                <a:ea typeface="Calibri" pitchFamily="34" charset="-122"/>
                <a:cs typeface="Calibri" pitchFamily="34" charset="-120"/>
              </a:rPr>
              <a:t>Auth, real credit &amp; underwriting</a:t>
            </a:r>
            <a:endParaRPr lang="en-US" sz="1350" dirty="0"/>
          </a:p>
          <a:p>
            <a:pPr marL="203200" indent="-203200">
              <a:spcAft>
                <a:spcPts val="700"/>
              </a:spcAft>
              <a:buSzPct val="100000"/>
              <a:buChar char="•"/>
            </a:pPr>
            <a:r>
              <a:rPr lang="en-US" sz="1350" dirty="0">
                <a:solidFill>
                  <a:srgbClr val="14401F"/>
                </a:solidFill>
                <a:latin typeface="Calibri" pitchFamily="34" charset="0"/>
                <a:ea typeface="Calibri" pitchFamily="34" charset="-122"/>
                <a:cs typeface="Calibri" pitchFamily="34" charset="-120"/>
              </a:rPr>
              <a:t>Real merchant-category APIs</a:t>
            </a:r>
            <a:endParaRPr lang="en-US" sz="1350" dirty="0"/>
          </a:p>
          <a:p>
            <a:pPr marL="203200" indent="-203200">
              <a:spcAft>
                <a:spcPts val="700"/>
              </a:spcAft>
              <a:buSzPct val="100000"/>
              <a:buChar char="•"/>
            </a:pPr>
            <a:r>
              <a:rPr lang="en-US" sz="1350" dirty="0">
                <a:solidFill>
                  <a:srgbClr val="14401F"/>
                </a:solidFill>
                <a:latin typeface="Calibri" pitchFamily="34" charset="0"/>
                <a:ea typeface="Calibri" pitchFamily="34" charset="-122"/>
                <a:cs typeface="Calibri" pitchFamily="34" charset="-120"/>
              </a:rPr>
              <a:t>Persistence beyond the session</a:t>
            </a:r>
            <a:endParaRPr lang="en-US" sz="1350" dirty="0"/>
          </a:p>
        </p:txBody>
      </p:sp>
      <p:sp>
        <p:nvSpPr>
          <p:cNvPr id="17" name="Text 13"/>
          <p:cNvSpPr txBox="1"/>
          <p:nvPr/>
        </p:nvSpPr>
        <p:spPr>
          <a:xfrm>
            <a:off x="11430000" y="6355080"/>
            <a:ext cx="548640" cy="274320"/>
          </a:xfrm>
          <a:prstGeom prst="rect">
            <a:avLst/>
          </a:prstGeom>
          <a:noFill/>
          <a:ln/>
        </p:spPr>
        <p:txBody>
          <a:bodyPr wrap="square" rtlCol="0" anchor="ctr"/>
          <a:lstStyle/>
          <a:p>
            <a:pPr algn="r" indent="0" marL="0">
              <a:buNone/>
            </a:pPr>
            <a:r>
              <a:rPr lang="en-US" sz="1000" dirty="0">
                <a:solidFill>
                  <a:srgbClr val="5C6B5A"/>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401F"/>
        </a:solidFill>
      </p:bgPr>
    </p:bg>
    <p:spTree>
      <p:nvGrpSpPr>
        <p:cNvPr id="1" name=""/>
        <p:cNvGrpSpPr/>
        <p:nvPr/>
      </p:nvGrpSpPr>
      <p:grpSpPr>
        <a:xfrm>
          <a:off x="0" y="0"/>
          <a:ext cx="0" cy="0"/>
          <a:chOff x="0" y="0"/>
          <a:chExt cx="0" cy="0"/>
        </a:xfrm>
      </p:grpSpPr>
      <p:sp>
        <p:nvSpPr>
          <p:cNvPr id="2" name="Shape 0"/>
          <p:cNvSpPr/>
          <p:nvPr/>
        </p:nvSpPr>
        <p:spPr>
          <a:xfrm>
            <a:off x="10241280" y="4389120"/>
            <a:ext cx="4023360" cy="4023360"/>
          </a:xfrm>
          <a:prstGeom prst="ellipse">
            <a:avLst/>
          </a:prstGeom>
          <a:solidFill>
            <a:srgbClr val="1C5228"/>
          </a:solidFill>
          <a:ln/>
        </p:spPr>
      </p:sp>
      <p:sp>
        <p:nvSpPr>
          <p:cNvPr id="3" name="Shape 1"/>
          <p:cNvSpPr/>
          <p:nvPr/>
        </p:nvSpPr>
        <p:spPr>
          <a:xfrm>
            <a:off x="548640" y="502920"/>
            <a:ext cx="566928" cy="566928"/>
          </a:xfrm>
          <a:prstGeom prst="ellipse">
            <a:avLst/>
          </a:prstGeom>
          <a:solidFill>
            <a:srgbClr val="86C440"/>
          </a:solidFill>
          <a:ln/>
        </p:spPr>
      </p:sp>
      <p:pic>
        <p:nvPicPr>
          <p:cNvPr id="4" name="Image 0" descr="preencoded.png">    </p:cNvPr>
          <p:cNvPicPr>
            <a:picLocks noChangeAspect="1"/>
          </p:cNvPicPr>
          <p:nvPr/>
        </p:nvPicPr>
        <p:blipFill>
          <a:blip r:embed="rId1"/>
          <a:stretch>
            <a:fillRect/>
          </a:stretch>
        </p:blipFill>
        <p:spPr>
          <a:xfrm>
            <a:off x="690372" y="644652"/>
            <a:ext cx="283464" cy="283464"/>
          </a:xfrm>
          <a:prstGeom prst="rect">
            <a:avLst/>
          </a:prstGeom>
        </p:spPr>
      </p:pic>
      <p:sp>
        <p:nvSpPr>
          <p:cNvPr id="5" name="Text 2"/>
          <p:cNvSpPr txBox="1"/>
          <p:nvPr/>
        </p:nvSpPr>
        <p:spPr>
          <a:xfrm>
            <a:off x="1280160" y="457200"/>
            <a:ext cx="9144000" cy="274320"/>
          </a:xfrm>
          <a:prstGeom prst="rect">
            <a:avLst/>
          </a:prstGeom>
          <a:noFill/>
          <a:ln/>
        </p:spPr>
        <p:txBody>
          <a:bodyPr wrap="square" rtlCol="0" anchor="ctr"/>
          <a:lstStyle/>
          <a:p>
            <a:pPr indent="0" marL="0">
              <a:buNone/>
            </a:pPr>
            <a:r>
              <a:rPr lang="en-US" sz="1200" b="1" spc="200" kern="0" dirty="0">
                <a:solidFill>
                  <a:srgbClr val="86C440"/>
                </a:solidFill>
                <a:latin typeface="Calibri" pitchFamily="34" charset="0"/>
                <a:ea typeface="Calibri" pitchFamily="34" charset="-122"/>
                <a:cs typeface="Calibri" pitchFamily="34" charset="-120"/>
              </a:rPr>
              <a:t>LIVE DEMO · ~45 SECONDS</a:t>
            </a:r>
            <a:endParaRPr lang="en-US" sz="1200" dirty="0"/>
          </a:p>
        </p:txBody>
      </p:sp>
      <p:sp>
        <p:nvSpPr>
          <p:cNvPr id="6" name="Text 3"/>
          <p:cNvSpPr txBox="1"/>
          <p:nvPr/>
        </p:nvSpPr>
        <p:spPr>
          <a:xfrm>
            <a:off x="1280160" y="694944"/>
            <a:ext cx="10058400" cy="6400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loop, in one flow</a:t>
            </a:r>
            <a:endParaRPr lang="en-US" sz="3000" dirty="0"/>
          </a:p>
        </p:txBody>
      </p:sp>
      <p:sp>
        <p:nvSpPr>
          <p:cNvPr id="7" name="Shape 4"/>
          <p:cNvSpPr/>
          <p:nvPr/>
        </p:nvSpPr>
        <p:spPr>
          <a:xfrm>
            <a:off x="868680" y="1828800"/>
            <a:ext cx="457200" cy="457200"/>
          </a:xfrm>
          <a:prstGeom prst="ellipse">
            <a:avLst/>
          </a:prstGeom>
          <a:solidFill>
            <a:srgbClr val="86C440"/>
          </a:solidFill>
          <a:ln/>
        </p:spPr>
      </p:sp>
      <p:sp>
        <p:nvSpPr>
          <p:cNvPr id="8" name="Text 5"/>
          <p:cNvSpPr txBox="1"/>
          <p:nvPr/>
        </p:nvSpPr>
        <p:spPr>
          <a:xfrm>
            <a:off x="868680" y="1856232"/>
            <a:ext cx="457200" cy="402336"/>
          </a:xfrm>
          <a:prstGeom prst="rect">
            <a:avLst/>
          </a:prstGeom>
          <a:noFill/>
          <a:ln/>
        </p:spPr>
        <p:txBody>
          <a:bodyPr wrap="square" rtlCol="0" anchor="ctr"/>
          <a:lstStyle/>
          <a:p>
            <a:pPr algn="ctr" indent="0" marL="0">
              <a:buNone/>
            </a:pPr>
            <a:r>
              <a:rPr lang="en-US" sz="1600" b="1" dirty="0">
                <a:solidFill>
                  <a:srgbClr val="14401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508760" y="1810512"/>
            <a:ext cx="6766560" cy="548640"/>
          </a:xfrm>
          <a:prstGeom prst="rect">
            <a:avLst/>
          </a:prstGeom>
          <a:noFill/>
          <a:ln/>
        </p:spPr>
        <p:txBody>
          <a:bodyPr wrap="square" rtlCol="0" anchor="ctr"/>
          <a:lstStyle/>
          <a:p>
            <a:pPr indent="0" marL="0">
              <a:lnSpc>
                <a:spcPct val="105000"/>
              </a:lnSpc>
              <a:buNone/>
            </a:pPr>
            <a:r>
              <a:rPr lang="en-US" sz="1450" dirty="0">
                <a:solidFill>
                  <a:srgbClr val="E7F1DE"/>
                </a:solidFill>
                <a:latin typeface="Calibri" pitchFamily="34" charset="0"/>
                <a:ea typeface="Calibri" pitchFamily="34" charset="-122"/>
                <a:cs typeface="Calibri" pitchFamily="34" charset="-120"/>
              </a:rPr>
              <a:t>Open on Home — spendable advance + a small building refund</a:t>
            </a:r>
            <a:endParaRPr lang="en-US" sz="1450" dirty="0"/>
          </a:p>
        </p:txBody>
      </p:sp>
      <p:sp>
        <p:nvSpPr>
          <p:cNvPr id="10" name="Shape 7"/>
          <p:cNvSpPr/>
          <p:nvPr/>
        </p:nvSpPr>
        <p:spPr>
          <a:xfrm>
            <a:off x="1097280" y="2286000"/>
            <a:ext cx="0" cy="329184"/>
          </a:xfrm>
          <a:prstGeom prst="line">
            <a:avLst/>
          </a:prstGeom>
          <a:noFill/>
          <a:ln w="25400">
            <a:solidFill>
              <a:srgbClr val="2E5B39"/>
            </a:solidFill>
            <a:prstDash val="solid"/>
          </a:ln>
        </p:spPr>
      </p:sp>
      <p:sp>
        <p:nvSpPr>
          <p:cNvPr id="11" name="Shape 8"/>
          <p:cNvSpPr/>
          <p:nvPr/>
        </p:nvSpPr>
        <p:spPr>
          <a:xfrm>
            <a:off x="868680" y="2615184"/>
            <a:ext cx="457200" cy="457200"/>
          </a:xfrm>
          <a:prstGeom prst="ellipse">
            <a:avLst/>
          </a:prstGeom>
          <a:solidFill>
            <a:srgbClr val="86C440"/>
          </a:solidFill>
          <a:ln/>
        </p:spPr>
      </p:sp>
      <p:sp>
        <p:nvSpPr>
          <p:cNvPr id="12" name="Text 9"/>
          <p:cNvSpPr txBox="1"/>
          <p:nvPr/>
        </p:nvSpPr>
        <p:spPr>
          <a:xfrm>
            <a:off x="868680" y="2642616"/>
            <a:ext cx="457200" cy="402336"/>
          </a:xfrm>
          <a:prstGeom prst="rect">
            <a:avLst/>
          </a:prstGeom>
          <a:noFill/>
          <a:ln/>
        </p:spPr>
        <p:txBody>
          <a:bodyPr wrap="square" rtlCol="0" anchor="ctr"/>
          <a:lstStyle/>
          <a:p>
            <a:pPr algn="ctr" indent="0" marL="0">
              <a:buNone/>
            </a:pPr>
            <a:r>
              <a:rPr lang="en-US" sz="1600" b="1" dirty="0">
                <a:solidFill>
                  <a:srgbClr val="14401F"/>
                </a:solidFill>
                <a:latin typeface="Calibri" pitchFamily="34" charset="0"/>
                <a:ea typeface="Calibri" pitchFamily="34" charset="-122"/>
                <a:cs typeface="Calibri" pitchFamily="34" charset="-120"/>
              </a:rPr>
              <a:t>2</a:t>
            </a:r>
            <a:endParaRPr lang="en-US" sz="1600" dirty="0"/>
          </a:p>
        </p:txBody>
      </p:sp>
      <p:sp>
        <p:nvSpPr>
          <p:cNvPr id="13" name="Text 10"/>
          <p:cNvSpPr txBox="1"/>
          <p:nvPr/>
        </p:nvSpPr>
        <p:spPr>
          <a:xfrm>
            <a:off x="1508760" y="2596896"/>
            <a:ext cx="6766560" cy="548640"/>
          </a:xfrm>
          <a:prstGeom prst="rect">
            <a:avLst/>
          </a:prstGeom>
          <a:noFill/>
          <a:ln/>
        </p:spPr>
        <p:txBody>
          <a:bodyPr wrap="square" rtlCol="0" anchor="ctr"/>
          <a:lstStyle/>
          <a:p>
            <a:pPr indent="0" marL="0">
              <a:lnSpc>
                <a:spcPct val="105000"/>
              </a:lnSpc>
              <a:buNone/>
            </a:pPr>
            <a:r>
              <a:rPr lang="en-US" sz="1450" dirty="0">
                <a:solidFill>
                  <a:srgbClr val="E7F1DE"/>
                </a:solidFill>
                <a:latin typeface="Calibri" pitchFamily="34" charset="0"/>
                <a:ea typeface="Calibri" pitchFamily="34" charset="-122"/>
                <a:cs typeface="Calibri" pitchFamily="34" charset="-120"/>
              </a:rPr>
              <a:t>Spend → buy Coffee &amp; Transit — watch cashback + “+refund” tags</a:t>
            </a:r>
            <a:endParaRPr lang="en-US" sz="1450" dirty="0"/>
          </a:p>
        </p:txBody>
      </p:sp>
      <p:sp>
        <p:nvSpPr>
          <p:cNvPr id="14" name="Shape 11"/>
          <p:cNvSpPr/>
          <p:nvPr/>
        </p:nvSpPr>
        <p:spPr>
          <a:xfrm>
            <a:off x="1097280" y="3072384"/>
            <a:ext cx="0" cy="329184"/>
          </a:xfrm>
          <a:prstGeom prst="line">
            <a:avLst/>
          </a:prstGeom>
          <a:noFill/>
          <a:ln w="25400">
            <a:solidFill>
              <a:srgbClr val="2E5B39"/>
            </a:solidFill>
            <a:prstDash val="solid"/>
          </a:ln>
        </p:spPr>
      </p:sp>
      <p:sp>
        <p:nvSpPr>
          <p:cNvPr id="15" name="Shape 12"/>
          <p:cNvSpPr/>
          <p:nvPr/>
        </p:nvSpPr>
        <p:spPr>
          <a:xfrm>
            <a:off x="868680" y="3401568"/>
            <a:ext cx="457200" cy="457200"/>
          </a:xfrm>
          <a:prstGeom prst="ellipse">
            <a:avLst/>
          </a:prstGeom>
          <a:solidFill>
            <a:srgbClr val="86C440"/>
          </a:solidFill>
          <a:ln/>
        </p:spPr>
      </p:sp>
      <p:sp>
        <p:nvSpPr>
          <p:cNvPr id="16" name="Text 13"/>
          <p:cNvSpPr txBox="1"/>
          <p:nvPr/>
        </p:nvSpPr>
        <p:spPr>
          <a:xfrm>
            <a:off x="868680" y="3429000"/>
            <a:ext cx="457200" cy="402336"/>
          </a:xfrm>
          <a:prstGeom prst="rect">
            <a:avLst/>
          </a:prstGeom>
          <a:noFill/>
          <a:ln/>
        </p:spPr>
        <p:txBody>
          <a:bodyPr wrap="square" rtlCol="0" anchor="ctr"/>
          <a:lstStyle/>
          <a:p>
            <a:pPr algn="ctr" indent="0" marL="0">
              <a:buNone/>
            </a:pPr>
            <a:r>
              <a:rPr lang="en-US" sz="1600" b="1" dirty="0">
                <a:solidFill>
                  <a:srgbClr val="14401F"/>
                </a:solidFill>
                <a:latin typeface="Calibri" pitchFamily="34" charset="0"/>
                <a:ea typeface="Calibri" pitchFamily="34" charset="-122"/>
                <a:cs typeface="Calibri" pitchFamily="34" charset="-120"/>
              </a:rPr>
              <a:t>3</a:t>
            </a:r>
            <a:endParaRPr lang="en-US" sz="1600" dirty="0"/>
          </a:p>
        </p:txBody>
      </p:sp>
      <p:sp>
        <p:nvSpPr>
          <p:cNvPr id="17" name="Text 14"/>
          <p:cNvSpPr txBox="1"/>
          <p:nvPr/>
        </p:nvSpPr>
        <p:spPr>
          <a:xfrm>
            <a:off x="1508760" y="3383280"/>
            <a:ext cx="6766560" cy="548640"/>
          </a:xfrm>
          <a:prstGeom prst="rect">
            <a:avLst/>
          </a:prstGeom>
          <a:noFill/>
          <a:ln/>
        </p:spPr>
        <p:txBody>
          <a:bodyPr wrap="square" rtlCol="0" anchor="ctr"/>
          <a:lstStyle/>
          <a:p>
            <a:pPr indent="0" marL="0">
              <a:lnSpc>
                <a:spcPct val="105000"/>
              </a:lnSpc>
              <a:buNone/>
            </a:pPr>
            <a:r>
              <a:rPr lang="en-US" sz="1450" dirty="0">
                <a:solidFill>
                  <a:srgbClr val="E7F1DE"/>
                </a:solidFill>
                <a:latin typeface="Calibri" pitchFamily="34" charset="0"/>
                <a:ea typeface="Calibri" pitchFamily="34" charset="-122"/>
                <a:cs typeface="Calibri" pitchFamily="34" charset="-120"/>
              </a:rPr>
              <a:t>Buy Diapers → “New baby?” sheet → confirm → refund jumps + confetti</a:t>
            </a:r>
            <a:endParaRPr lang="en-US" sz="1450" dirty="0"/>
          </a:p>
        </p:txBody>
      </p:sp>
      <p:sp>
        <p:nvSpPr>
          <p:cNvPr id="18" name="Shape 15"/>
          <p:cNvSpPr/>
          <p:nvPr/>
        </p:nvSpPr>
        <p:spPr>
          <a:xfrm>
            <a:off x="1097280" y="3858768"/>
            <a:ext cx="0" cy="329184"/>
          </a:xfrm>
          <a:prstGeom prst="line">
            <a:avLst/>
          </a:prstGeom>
          <a:noFill/>
          <a:ln w="25400">
            <a:solidFill>
              <a:srgbClr val="2E5B39"/>
            </a:solidFill>
            <a:prstDash val="solid"/>
          </a:ln>
        </p:spPr>
      </p:sp>
      <p:sp>
        <p:nvSpPr>
          <p:cNvPr id="19" name="Shape 16"/>
          <p:cNvSpPr/>
          <p:nvPr/>
        </p:nvSpPr>
        <p:spPr>
          <a:xfrm>
            <a:off x="868680" y="4187952"/>
            <a:ext cx="457200" cy="457200"/>
          </a:xfrm>
          <a:prstGeom prst="ellipse">
            <a:avLst/>
          </a:prstGeom>
          <a:solidFill>
            <a:srgbClr val="86C440"/>
          </a:solidFill>
          <a:ln/>
        </p:spPr>
      </p:sp>
      <p:sp>
        <p:nvSpPr>
          <p:cNvPr id="20" name="Text 17"/>
          <p:cNvSpPr txBox="1"/>
          <p:nvPr/>
        </p:nvSpPr>
        <p:spPr>
          <a:xfrm>
            <a:off x="868680" y="4215384"/>
            <a:ext cx="457200" cy="402336"/>
          </a:xfrm>
          <a:prstGeom prst="rect">
            <a:avLst/>
          </a:prstGeom>
          <a:noFill/>
          <a:ln/>
        </p:spPr>
        <p:txBody>
          <a:bodyPr wrap="square" rtlCol="0" anchor="ctr"/>
          <a:lstStyle/>
          <a:p>
            <a:pPr algn="ctr" indent="0" marL="0">
              <a:buNone/>
            </a:pPr>
            <a:r>
              <a:rPr lang="en-US" sz="1600" b="1" dirty="0">
                <a:solidFill>
                  <a:srgbClr val="14401F"/>
                </a:solidFill>
                <a:latin typeface="Calibri" pitchFamily="34" charset="0"/>
                <a:ea typeface="Calibri" pitchFamily="34" charset="-122"/>
                <a:cs typeface="Calibri" pitchFamily="34" charset="-120"/>
              </a:rPr>
              <a:t>4</a:t>
            </a:r>
            <a:endParaRPr lang="en-US" sz="1600" dirty="0"/>
          </a:p>
        </p:txBody>
      </p:sp>
      <p:sp>
        <p:nvSpPr>
          <p:cNvPr id="21" name="Text 18"/>
          <p:cNvSpPr txBox="1"/>
          <p:nvPr/>
        </p:nvSpPr>
        <p:spPr>
          <a:xfrm>
            <a:off x="1508760" y="4169664"/>
            <a:ext cx="6766560" cy="548640"/>
          </a:xfrm>
          <a:prstGeom prst="rect">
            <a:avLst/>
          </a:prstGeom>
          <a:noFill/>
          <a:ln/>
        </p:spPr>
        <p:txBody>
          <a:bodyPr wrap="square" rtlCol="0" anchor="ctr"/>
          <a:lstStyle/>
          <a:p>
            <a:pPr indent="0" marL="0">
              <a:lnSpc>
                <a:spcPct val="105000"/>
              </a:lnSpc>
              <a:buNone/>
            </a:pPr>
            <a:r>
              <a:rPr lang="en-US" sz="1450" dirty="0">
                <a:solidFill>
                  <a:srgbClr val="E7F1DE"/>
                </a:solidFill>
                <a:latin typeface="Calibri" pitchFamily="34" charset="0"/>
                <a:ea typeface="Calibri" pitchFamily="34" charset="-122"/>
                <a:cs typeface="Calibri" pitchFamily="34" charset="-120"/>
              </a:rPr>
              <a:t>Coach surfaces the BMW lease from the long commute — lower effective monthly</a:t>
            </a:r>
            <a:endParaRPr lang="en-US" sz="1450" dirty="0"/>
          </a:p>
        </p:txBody>
      </p:sp>
      <p:sp>
        <p:nvSpPr>
          <p:cNvPr id="22" name="Shape 19"/>
          <p:cNvSpPr/>
          <p:nvPr/>
        </p:nvSpPr>
        <p:spPr>
          <a:xfrm>
            <a:off x="1097280" y="4645152"/>
            <a:ext cx="0" cy="329184"/>
          </a:xfrm>
          <a:prstGeom prst="line">
            <a:avLst/>
          </a:prstGeom>
          <a:noFill/>
          <a:ln w="25400">
            <a:solidFill>
              <a:srgbClr val="2E5B39"/>
            </a:solidFill>
            <a:prstDash val="solid"/>
          </a:ln>
        </p:spPr>
      </p:sp>
      <p:sp>
        <p:nvSpPr>
          <p:cNvPr id="23" name="Shape 20"/>
          <p:cNvSpPr/>
          <p:nvPr/>
        </p:nvSpPr>
        <p:spPr>
          <a:xfrm>
            <a:off x="868680" y="4974336"/>
            <a:ext cx="457200" cy="457200"/>
          </a:xfrm>
          <a:prstGeom prst="ellipse">
            <a:avLst/>
          </a:prstGeom>
          <a:solidFill>
            <a:srgbClr val="86C440"/>
          </a:solidFill>
          <a:ln/>
        </p:spPr>
      </p:sp>
      <p:sp>
        <p:nvSpPr>
          <p:cNvPr id="24" name="Text 21"/>
          <p:cNvSpPr txBox="1"/>
          <p:nvPr/>
        </p:nvSpPr>
        <p:spPr>
          <a:xfrm>
            <a:off x="868680" y="5001768"/>
            <a:ext cx="457200" cy="402336"/>
          </a:xfrm>
          <a:prstGeom prst="rect">
            <a:avLst/>
          </a:prstGeom>
          <a:noFill/>
          <a:ln/>
        </p:spPr>
        <p:txBody>
          <a:bodyPr wrap="square" rtlCol="0" anchor="ctr"/>
          <a:lstStyle/>
          <a:p>
            <a:pPr algn="ctr" indent="0" marL="0">
              <a:buNone/>
            </a:pPr>
            <a:r>
              <a:rPr lang="en-US" sz="1600" b="1" dirty="0">
                <a:solidFill>
                  <a:srgbClr val="14401F"/>
                </a:solidFill>
                <a:latin typeface="Calibri" pitchFamily="34" charset="0"/>
                <a:ea typeface="Calibri" pitchFamily="34" charset="-122"/>
                <a:cs typeface="Calibri" pitchFamily="34" charset="-120"/>
              </a:rPr>
              <a:t>5</a:t>
            </a:r>
            <a:endParaRPr lang="en-US" sz="1600" dirty="0"/>
          </a:p>
        </p:txBody>
      </p:sp>
      <p:sp>
        <p:nvSpPr>
          <p:cNvPr id="25" name="Text 22"/>
          <p:cNvSpPr txBox="1"/>
          <p:nvPr/>
        </p:nvSpPr>
        <p:spPr>
          <a:xfrm>
            <a:off x="1508760" y="4956048"/>
            <a:ext cx="6766560" cy="548640"/>
          </a:xfrm>
          <a:prstGeom prst="rect">
            <a:avLst/>
          </a:prstGeom>
          <a:noFill/>
          <a:ln/>
        </p:spPr>
        <p:txBody>
          <a:bodyPr wrap="square" rtlCol="0" anchor="ctr"/>
          <a:lstStyle/>
          <a:p>
            <a:pPr indent="0" marL="0">
              <a:lnSpc>
                <a:spcPct val="105000"/>
              </a:lnSpc>
              <a:buNone/>
            </a:pPr>
            <a:r>
              <a:rPr lang="en-US" sz="1450" dirty="0">
                <a:solidFill>
                  <a:srgbClr val="E7F1DE"/>
                </a:solidFill>
                <a:latin typeface="Calibri" pitchFamily="34" charset="0"/>
                <a:ea typeface="Calibri" pitchFamily="34" charset="-122"/>
                <a:cs typeface="Calibri" pitchFamily="34" charset="-120"/>
              </a:rPr>
              <a:t>Back on Home — both hero numbers have grown. That loop is the pitch.</a:t>
            </a:r>
            <a:endParaRPr lang="en-US" sz="1450" dirty="0"/>
          </a:p>
        </p:txBody>
      </p:sp>
      <p:sp>
        <p:nvSpPr>
          <p:cNvPr id="26" name="Shape 23"/>
          <p:cNvSpPr/>
          <p:nvPr/>
        </p:nvSpPr>
        <p:spPr>
          <a:xfrm>
            <a:off x="8549640" y="1828800"/>
            <a:ext cx="3108960" cy="4023360"/>
          </a:xfrm>
          <a:prstGeom prst="roundRect">
            <a:avLst>
              <a:gd name="adj" fmla="val 4118"/>
            </a:avLst>
          </a:prstGeom>
          <a:solidFill>
            <a:srgbClr val="86C440"/>
          </a:solidFill>
          <a:ln/>
          <a:effectLst>
            <a:outerShdw sx="100000" sy="100000" kx="0" ky="0" algn="bl" rotWithShape="0" blurRad="101600" dist="25400" dir="5400000">
              <a:srgbClr val="000000">
                <a:alpha val="18000"/>
              </a:srgbClr>
            </a:outerShdw>
          </a:effectLst>
        </p:spPr>
      </p:sp>
      <p:sp>
        <p:nvSpPr>
          <p:cNvPr id="27" name="Text 24"/>
          <p:cNvSpPr txBox="1"/>
          <p:nvPr/>
        </p:nvSpPr>
        <p:spPr>
          <a:xfrm>
            <a:off x="8823960" y="2148840"/>
            <a:ext cx="2560320" cy="274320"/>
          </a:xfrm>
          <a:prstGeom prst="rect">
            <a:avLst/>
          </a:prstGeom>
          <a:noFill/>
          <a:ln/>
        </p:spPr>
        <p:txBody>
          <a:bodyPr wrap="square" rtlCol="0" anchor="ctr"/>
          <a:lstStyle/>
          <a:p>
            <a:pPr indent="0" marL="0">
              <a:buNone/>
            </a:pPr>
            <a:r>
              <a:rPr lang="en-US" sz="1000" b="1" spc="100" kern="0" dirty="0">
                <a:solidFill>
                  <a:srgbClr val="2C4A18"/>
                </a:solidFill>
                <a:latin typeface="Calibri" pitchFamily="34" charset="0"/>
                <a:ea typeface="Calibri" pitchFamily="34" charset="-122"/>
                <a:cs typeface="Calibri" pitchFamily="34" charset="-120"/>
              </a:rPr>
              <a:t>THE PITCH IN ONE LINE</a:t>
            </a:r>
            <a:endParaRPr lang="en-US" sz="1000" dirty="0"/>
          </a:p>
        </p:txBody>
      </p:sp>
      <p:sp>
        <p:nvSpPr>
          <p:cNvPr id="28" name="Text 25"/>
          <p:cNvSpPr txBox="1"/>
          <p:nvPr/>
        </p:nvSpPr>
        <p:spPr>
          <a:xfrm>
            <a:off x="8823960" y="2606040"/>
            <a:ext cx="2606040" cy="822960"/>
          </a:xfrm>
          <a:prstGeom prst="rect">
            <a:avLst/>
          </a:prstGeom>
          <a:noFill/>
          <a:ln/>
        </p:spPr>
        <p:txBody>
          <a:bodyPr wrap="square" rtlCol="0" anchor="ctr"/>
          <a:lstStyle/>
          <a:p>
            <a:pPr indent="0" marL="0">
              <a:buNone/>
            </a:pPr>
            <a:r>
              <a:rPr lang="en-US" sz="2400" b="1" dirty="0">
                <a:solidFill>
                  <a:srgbClr val="14401F"/>
                </a:solidFill>
                <a:latin typeface="Calibri" pitchFamily="34" charset="0"/>
                <a:ea typeface="Calibri" pitchFamily="34" charset="-122"/>
                <a:cs typeface="Calibri" pitchFamily="34" charset="-120"/>
              </a:rPr>
              <a:t>Get your refund today.</a:t>
            </a:r>
            <a:endParaRPr lang="en-US" sz="2400" dirty="0"/>
          </a:p>
        </p:txBody>
      </p:sp>
      <p:sp>
        <p:nvSpPr>
          <p:cNvPr id="29" name="Text 26"/>
          <p:cNvSpPr txBox="1"/>
          <p:nvPr/>
        </p:nvSpPr>
        <p:spPr>
          <a:xfrm>
            <a:off x="8823960" y="3429000"/>
            <a:ext cx="2606040" cy="54864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Spend it.</a:t>
            </a:r>
            <a:endParaRPr lang="en-US" sz="2400" dirty="0"/>
          </a:p>
        </p:txBody>
      </p:sp>
      <p:sp>
        <p:nvSpPr>
          <p:cNvPr id="30" name="Text 27"/>
          <p:cNvSpPr txBox="1"/>
          <p:nvPr/>
        </p:nvSpPr>
        <p:spPr>
          <a:xfrm>
            <a:off x="8823960" y="3977640"/>
            <a:ext cx="2606040" cy="822960"/>
          </a:xfrm>
          <a:prstGeom prst="rect">
            <a:avLst/>
          </a:prstGeom>
          <a:noFill/>
          <a:ln/>
        </p:spPr>
        <p:txBody>
          <a:bodyPr wrap="square" rtlCol="0" anchor="ctr"/>
          <a:lstStyle/>
          <a:p>
            <a:pPr indent="0" marL="0">
              <a:buNone/>
            </a:pPr>
            <a:r>
              <a:rPr lang="en-US" sz="2400" b="1" dirty="0">
                <a:solidFill>
                  <a:srgbClr val="14401F"/>
                </a:solidFill>
                <a:latin typeface="Calibri" pitchFamily="34" charset="0"/>
                <a:ea typeface="Calibri" pitchFamily="34" charset="-122"/>
                <a:cs typeface="Calibri" pitchFamily="34" charset="-120"/>
              </a:rPr>
              <a:t>It pays you back.</a:t>
            </a:r>
            <a:endParaRPr lang="en-US" sz="2400" dirty="0"/>
          </a:p>
        </p:txBody>
      </p:sp>
      <p:sp>
        <p:nvSpPr>
          <p:cNvPr id="31" name="Text 28"/>
          <p:cNvSpPr txBox="1"/>
          <p:nvPr/>
        </p:nvSpPr>
        <p:spPr>
          <a:xfrm>
            <a:off x="8823960" y="5257800"/>
            <a:ext cx="2606040" cy="365760"/>
          </a:xfrm>
          <a:prstGeom prst="rect">
            <a:avLst/>
          </a:prstGeom>
          <a:noFill/>
          <a:ln/>
        </p:spPr>
        <p:txBody>
          <a:bodyPr wrap="square" rtlCol="0" anchor="ctr"/>
          <a:lstStyle/>
          <a:p>
            <a:pPr indent="0" marL="0">
              <a:buNone/>
            </a:pPr>
            <a:r>
              <a:rPr lang="en-US" sz="1400" b="1" dirty="0">
                <a:solidFill>
                  <a:srgbClr val="2C4A18"/>
                </a:solidFill>
                <a:latin typeface="Calibri" pitchFamily="34" charset="0"/>
                <a:ea typeface="Calibri" pitchFamily="34" charset="-122"/>
                <a:cs typeface="Calibri" pitchFamily="34" charset="-120"/>
              </a:rPr>
              <a:t>Taxfix Card</a:t>
            </a:r>
            <a:endParaRPr lang="en-US" sz="1400" dirty="0"/>
          </a:p>
        </p:txBody>
      </p:sp>
      <p:sp>
        <p:nvSpPr>
          <p:cNvPr id="32" name="Text 29"/>
          <p:cNvSpPr txBox="1"/>
          <p:nvPr/>
        </p:nvSpPr>
        <p:spPr>
          <a:xfrm>
            <a:off x="11430000" y="6355080"/>
            <a:ext cx="548640" cy="274320"/>
          </a:xfrm>
          <a:prstGeom prst="rect">
            <a:avLst/>
          </a:prstGeom>
          <a:noFill/>
          <a:ln/>
        </p:spPr>
        <p:txBody>
          <a:bodyPr wrap="square" rtlCol="0" anchor="ctr"/>
          <a:lstStyle/>
          <a:p>
            <a:pPr algn="r" indent="0" marL="0">
              <a:buNone/>
            </a:pPr>
            <a:r>
              <a:rPr lang="en-US" sz="1000" dirty="0">
                <a:solidFill>
                  <a:srgbClr val="A9C09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Taxfix Card</dc:title>
  <dc:subject>PptxGenJS Presentation</dc:subject>
  <dc:creator>Xhoel</dc:creator>
  <cp:lastModifiedBy>Xhoel</cp:lastModifiedBy>
  <cp:revision>1</cp:revision>
  <dcterms:created xsi:type="dcterms:W3CDTF">2026-09-17T17:46:21Z</dcterms:created>
  <dcterms:modified xsi:type="dcterms:W3CDTF">2026-09-17T17:46:21Z</dcterms:modified>
</cp:coreProperties>
</file>